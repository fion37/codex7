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delivery_001.jpg" ContentType="image/png"/>
  <Override PartName="/ppt/media/delivery_002.jpg" ContentType="image/png"/>
  <Override PartName="/ppt/media/delivery_003.jpg" ContentType="image/png"/>
  <Override PartName="/ppt/media/delivery_004.jpg" ContentType="image/png"/>
  <Override PartName="/ppt/media/delivery_005.jpg" ContentType="image/png"/>
  <Override PartName="/ppt/media/delivery_006.jpg" ContentType="image/png"/>
  <Override PartName="/ppt/media/delivery_007.jpg" ContentType="image/png"/>
  <Override PartName="/ppt/media/delivery_008.jpg" ContentType="image/png"/>
  <Override PartName="/ppt/media/delivery_009.jpg" ContentType="image/png"/>
  <Override PartName="/ppt/media/delivery_010.jpg" ContentType="image/png"/>
  <Override PartName="/ppt/media/delivery_011.jpg" ContentType="image/png"/>
  <Override PartName="/ppt/media/delivery_012.jpg" ContentType="image/png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2533873edce470b" Type="http://schemas.openxmlformats.org/officeDocument/2006/relationships/extended-properties" Target="docProps/app.xml"/><Relationship Id="R5b28156333504a53" Type="http://schemas.openxmlformats.org/officeDocument/2006/relationships/officeDocument" Target="ppt/presentation.xml"/><Relationship Id="Rd70c24e9d6e8424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24d2e4978a48aa"/>
  </p:sldMasterIdLst>
  <p:notesMasterIdLst>
    <p:notesMasterId xmlns:r="http://schemas.openxmlformats.org/officeDocument/2006/relationships" r:id="R631917b10e894133"/>
  </p:notesMasterIdLst>
  <p:sldIdLst>
    <p:sldId xmlns:r="http://schemas.openxmlformats.org/officeDocument/2006/relationships" id="256" r:id="Rbe6879bcb49d45fd"/>
    <p:sldId xmlns:r="http://schemas.openxmlformats.org/officeDocument/2006/relationships" id="257" r:id="R68f2571ee0084d06"/>
    <p:sldId xmlns:r="http://schemas.openxmlformats.org/officeDocument/2006/relationships" id="258" r:id="R0aa284e287b344b8"/>
    <p:sldId xmlns:r="http://schemas.openxmlformats.org/officeDocument/2006/relationships" id="259" r:id="R190067f464534c36"/>
    <p:sldId xmlns:r="http://schemas.openxmlformats.org/officeDocument/2006/relationships" id="260" r:id="Re7c88f4099004a72"/>
    <p:sldId xmlns:ns0="http://schemas.openxmlformats.org/officeDocument/2006/relationships" id="274" ns0:id="rId24"/>
    <p:sldId xmlns:r="http://schemas.openxmlformats.org/officeDocument/2006/relationships" id="261" r:id="R03dd60e33c044579"/>
    <p:sldId xmlns:r="http://schemas.openxmlformats.org/officeDocument/2006/relationships" id="262" r:id="Ra2af472a09d64377"/>
    <p:sldId xmlns:r="http://schemas.openxmlformats.org/officeDocument/2006/relationships" id="263" r:id="R16025ed6558d4c3b"/>
    <p:sldId xmlns:r="http://schemas.openxmlformats.org/officeDocument/2006/relationships" id="264" r:id="R0c81f67e03a14f36"/>
    <p:sldId xmlns:r="http://schemas.openxmlformats.org/officeDocument/2006/relationships" id="265" r:id="R8eb89d82df294537"/>
    <p:sldId xmlns:ns0="http://schemas.openxmlformats.org/officeDocument/2006/relationships" id="275" ns0:id="rId25"/>
    <p:sldId xmlns:r="http://schemas.openxmlformats.org/officeDocument/2006/relationships" id="266" r:id="R71c9c4b67b734fa1"/>
    <p:sldId xmlns:r="http://schemas.openxmlformats.org/officeDocument/2006/relationships" id="267" r:id="Rabddc808de1d43a3"/>
    <p:sldId xmlns:ns0="http://schemas.openxmlformats.org/officeDocument/2006/relationships" id="276" ns0:id="rId26"/>
    <p:sldId xmlns:r="http://schemas.openxmlformats.org/officeDocument/2006/relationships" id="268" r:id="R081f9fc7627e4601"/>
    <p:sldId xmlns:r="http://schemas.openxmlformats.org/officeDocument/2006/relationships" id="269" r:id="Rad145233b3054dc9"/>
    <p:sldId xmlns:r="http://schemas.openxmlformats.org/officeDocument/2006/relationships" id="270" r:id="Ra1185be76aeb4515"/>
    <p:sldId xmlns:r="http://schemas.openxmlformats.org/officeDocument/2006/relationships" id="271" r:id="R43875380877f47b3"/>
    <p:sldId xmlns:r="http://schemas.openxmlformats.org/officeDocument/2006/relationships" id="272" r:id="R68ea69deb0ea47d0"/>
    <p:sldId xmlns:r="http://schemas.openxmlformats.org/officeDocument/2006/relationships" id="273" r:id="R552ad8ab4ecf42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dd60e33c044579" Type="http://schemas.openxmlformats.org/officeDocument/2006/relationships/slide" Target="slides/slide7.xml"/><Relationship Id="R081f9fc7627e4601" Type="http://schemas.openxmlformats.org/officeDocument/2006/relationships/slide" Target="slides/slide16.xml"/><Relationship Id="R0aa284e287b344b8" Type="http://schemas.openxmlformats.org/officeDocument/2006/relationships/slide" Target="slides/slide3.xml"/><Relationship Id="R0c81f67e03a14f36" Type="http://schemas.openxmlformats.org/officeDocument/2006/relationships/slide" Target="slides/slide10.xml"/><Relationship Id="R16025ed6558d4c3b" Type="http://schemas.openxmlformats.org/officeDocument/2006/relationships/slide" Target="slides/slide9.xml"/><Relationship Id="R190067f464534c36" Type="http://schemas.openxmlformats.org/officeDocument/2006/relationships/slide" Target="slides/slide4.xml"/><Relationship Id="R2247ad0759664912" Type="http://schemas.openxmlformats.org/officeDocument/2006/relationships/presProps" Target="presProps.xml"/><Relationship Id="R43875380877f47b3" Type="http://schemas.openxmlformats.org/officeDocument/2006/relationships/slide" Target="slides/slide19.xml"/><Relationship Id="R552ad8ab4ecf42f7" Type="http://schemas.openxmlformats.org/officeDocument/2006/relationships/slide" Target="slides/slide21.xml"/><Relationship Id="R5c24d2e4978a48aa" Type="http://schemas.openxmlformats.org/officeDocument/2006/relationships/slideMaster" Target="slideMasters/slideMaster1.xml"/><Relationship Id="R631917b10e894133" Type="http://schemas.openxmlformats.org/officeDocument/2006/relationships/notesMaster" Target="notesMasters/notesMaster1.xml"/><Relationship Id="R68ea69deb0ea47d0" Type="http://schemas.openxmlformats.org/officeDocument/2006/relationships/slide" Target="slides/slide20.xml"/><Relationship Id="R68f2571ee0084d06" Type="http://schemas.openxmlformats.org/officeDocument/2006/relationships/slide" Target="slides/slide2.xml"/><Relationship Id="R71c9c4b67b734fa1" Type="http://schemas.openxmlformats.org/officeDocument/2006/relationships/slide" Target="slides/slide13.xml"/><Relationship Id="R8eb89d82df294537" Type="http://schemas.openxmlformats.org/officeDocument/2006/relationships/slide" Target="slides/slide11.xml"/><Relationship Id="Ra1185be76aeb4515" Type="http://schemas.openxmlformats.org/officeDocument/2006/relationships/slide" Target="slides/slide18.xml"/><Relationship Id="Ra2af472a09d64377" Type="http://schemas.openxmlformats.org/officeDocument/2006/relationships/slide" Target="slides/slide8.xml"/><Relationship Id="Rabddc808de1d43a3" Type="http://schemas.openxmlformats.org/officeDocument/2006/relationships/slide" Target="slides/slide14.xml"/><Relationship Id="Rad145233b3054dc9" Type="http://schemas.openxmlformats.org/officeDocument/2006/relationships/slide" Target="slides/slide17.xml"/><Relationship Id="Rb07f7c63fa0f4bd9" Type="http://schemas.openxmlformats.org/officeDocument/2006/relationships/theme" Target="theme/theme1.xml"/><Relationship Id="Rbe6879bcb49d45fd" Type="http://schemas.openxmlformats.org/officeDocument/2006/relationships/slide" Target="slides/slide1.xml"/><Relationship Id="Re7c88f4099004a72" Type="http://schemas.openxmlformats.org/officeDocument/2006/relationships/slide" Target="slides/slide5.xml"/><Relationship Id="Rf3241d8aab50499d" Type="http://schemas.openxmlformats.org/officeDocument/2006/relationships/tableStyles" Target="tableStyles.xml"/><Relationship Id="rId24" Type="http://schemas.openxmlformats.org/officeDocument/2006/relationships/slide" Target="slides/slide6.xml"/><Relationship Id="rId25" Type="http://schemas.openxmlformats.org/officeDocument/2006/relationships/slide" Target="slides/slide12.xml"/><Relationship Id="rId26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923e77ab38914e3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ce92763ba9e4050" Type="http://schemas.openxmlformats.org/officeDocument/2006/relationships/notesMaster" Target="../notesMasters/notesMaster1.xml"/><Relationship Id="R4fce6b84be8449b7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785cac99c739419e" Type="http://schemas.openxmlformats.org/officeDocument/2006/relationships/notesMaster" Target="../notesMasters/notesMaster1.xml"/><Relationship Id="Rc1c31aa39e864c73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c8a55c29135c4f64" Type="http://schemas.openxmlformats.org/officeDocument/2006/relationships/notesMaster" Target="../notesMasters/notesMaster1.xml"/><Relationship Id="Rcf9adad8ae1c4ee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17ac77c98bb4ee1" Type="http://schemas.openxmlformats.org/officeDocument/2006/relationships/slide" Target="../slides/slide4.xml"/><Relationship Id="Rd8a03665e5ad425f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25cdf0b409d42f0" Type="http://schemas.openxmlformats.org/officeDocument/2006/relationships/slide" Target="../slides/slide5.xml"/><Relationship Id="Rb050b5f05cb8485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61425cd904204846" Type="http://schemas.openxmlformats.org/officeDocument/2006/relationships/notesMaster" Target="../notesMasters/notesMaster1.xml"/><Relationship Id="Re2989c82e085424f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3836683df7014a48" Type="http://schemas.openxmlformats.org/officeDocument/2006/relationships/notesMaster" Target="../notesMasters/notesMaster1.xml"/><Relationship Id="Rab7d1b636013484e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7f49a381bfed4702" Type="http://schemas.openxmlformats.org/officeDocument/2006/relationships/slide" Target="../slides/slide9.xml"/><Relationship Id="Rfc953157de30459e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7e8447cec5394280" Type="http://schemas.openxmlformats.org/officeDocument/2006/relationships/notesMaster" Target="../notesMasters/notesMaster1.xml"/><Relationship Id="Rb12d405c10904c6f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3b58fe1824bd4b15" Type="http://schemas.openxmlformats.org/officeDocument/2006/relationships/slide" Target="../slides/slide11.xml"/><Relationship Id="Rc1c9984a2b1f439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ba14539f85044efb" Type="http://schemas.openxmlformats.org/officeDocument/2006/relationships/slide" Target="../slides/slide13.xml"/><Relationship Id="Re3732bc2fcef4299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c1f5f467dfc34940" Type="http://schemas.openxmlformats.org/officeDocument/2006/relationships/notesMaster" Target="../notesMasters/notesMaster1.xml"/><Relationship Id="Re6632b47e168455c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9ffdc13200cf4b67" Type="http://schemas.openxmlformats.org/officeDocument/2006/relationships/notesMaster" Target="../notesMasters/notesMaster1.xml"/><Relationship Id="Ra61993a3b36944db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b473a02f7fa7424b" Type="http://schemas.openxmlformats.org/officeDocument/2006/relationships/notesMaster" Target="../notesMasters/notesMaster1.xml"/><Relationship Id="Rc32163c1bdb0463e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8366845e9e8845ce" Type="http://schemas.openxmlformats.org/officeDocument/2006/relationships/notesMaster" Target="../notesMasters/notesMaster1.xml"/><Relationship Id="Rfaf048680f1c4890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500503972df549b9" Type="http://schemas.openxmlformats.org/officeDocument/2006/relationships/slide" Target="../slides/slide19.xml"/><Relationship Id="Ra0f43078494743e7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82c0d2ab81ce48d6" Type="http://schemas.openxmlformats.org/officeDocument/2006/relationships/slide" Target="../slides/slide20.xml"/><Relationship Id="Rc7e7c961d0204907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5fbae29276794cbf" Type="http://schemas.openxmlformats.org/officeDocument/2006/relationships/slide" Target="../slides/slide21.xml"/><Relationship Id="Rd938aaba9ed5491a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概念提案。活动时间、商场和具体产品SKU待品牌确认。主装置视觉为AI概念效果图，不代表已建成场景。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目标为本次活动的策略设计，不包含未经验证的效果预测。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以上是创意策划假设，需用活动商圈用户访谈及品牌历史报名/成交数据校准，不作为已验证消费者研究结论。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主题为本提案原创创意表达。小牛IP设定延续用户提供的三视图。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IP三视图来自用户提供素材。最终延展仍需品牌审定标准形象、授权范围和立体制作规范。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两张视觉均为用户提供的创意效果图；产品包装、品牌标识及文案发布前以官方审核素材替换。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T为正式活动首日，相对排期。小红书聚光官方帮助中心区分产品种草与客资收集目标，具体投放、素材和承接须以当前平台审核为准。来源：https://ad.xiaohongshu.com/next_help/home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三张海报均为用户提供的创意图。牧场照片属于广告概念场景，不应作为线下活动有活牛或可进入牧场的承诺。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平台官方说明：聚光帮助中心列示产品种草、客资收集场景；平台指引要求使用合规获客工具。来源：https://ad.xiaohongshu.com/next_help/home ; https://ad.xiaohongshu.com/next_help/docs/cfa457375a0dffd3bd04453f42b9731e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主装置为本提案基于用户提供礼品图和IP图生成的概念效果图；结构、亮度、电气、消防、通道与实际尺寸需由场地和搭建方深化。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时长为概念体验估计，不含排队与拍照停留；婴幼儿始终由监护人陪同。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三款产品以用户上传画面为创意参考，并非经核准的正式产品包装。正式对外须核实SKU、适用月龄、注册信息、品牌标准图和实际标签。品牌官方产品族参考：https://www.feihe.com/product ; 产品注册服务参考：https://zwfw.samr.gov.cn/scjg/wyb/sp/2024072901582390644/。不作健康功效承诺。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用户上传的选定礼盒效果图作为本页主视觉。礼品结构、材质、月饼生产与赠送规则及适龄安全性需打样审定；不将概念图视为已量产实物。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会员系统对接、个人信息字段、告知与授权方式须按品牌既有规则和平台要求审定。不得把分享内容或购买作为基础活动参与的必需条件。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T为活动正式首日；具体日期与城市/商场待确认。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指标均为建议口径，非预测值。聚光官方帮助中心提供按种草、客资收集等场景查看报表的说明：https://ad.xiaohongshu.com/next_help/docs/576f7be304619d27b9c2cab76522ee2d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本提案为创意与传播策略，视觉均为概念稿。小红书发布、婴配粉广告、商品包装、礼品及活动现场，均需品牌、平台与场地方逐项审核。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59656fb85714d2b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121585cb84f94eff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dc351ca10d3d499e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84222a4fe2bf43e4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ad41895cb2f74818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51d1162596ea410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15065C-2C09-4BBB-B015-A6C7324271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A577F8E-5FF2-48C4-A123-7145A4F5D1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1D1F016-555D-4095-AEE7-41838A8E60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EED93F-8A5C-4FA9-B339-92951882F6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9B4058-529B-4581-9C8E-84B1319B57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82AE42-1D1F-4AAB-B6FE-343EC5FC57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A0186F-13FE-4B7E-A470-C80EA9DAE5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57A0FDA-9D0F-4243-8578-FDFF9C6996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99B0DD-6CA4-4E7B-AD04-A96CBA8775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6A619C-3ACA-4F8E-8A48-DA5AD8F86E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7c5db34a8d01490f" Type="http://schemas.openxmlformats.org/officeDocument/2006/relationships/theme" Target="theme/theme2.xml"/><Relationship Id="R9eacc061c27e4c51" Type="http://schemas.openxmlformats.org/officeDocument/2006/relationships/slideLayout" Target="../slideLayouts/slideLayout2.xml"/><Relationship Id="Rbfd69611a5264092" Type="http://schemas.openxmlformats.org/officeDocument/2006/relationships/slideLayout" Target="../slideLayouts/slideLayout1.xml"/><Relationship Id="Rc3c43821ca444892" Type="http://schemas.openxmlformats.org/officeDocument/2006/relationships/slideLayout" Target="../slideLayouts/slideLayout5.xml"/><Relationship Id="Rcbfef4363ac74a6b" Type="http://schemas.openxmlformats.org/officeDocument/2006/relationships/slideLayout" Target="../slideLayouts/slideLayout6.xml"/><Relationship Id="Rcc44c115e9524b75" Type="http://schemas.openxmlformats.org/officeDocument/2006/relationships/slideLayout" Target="../slideLayouts/slideLayout4.xml"/><Relationship Id="Rf1bc31074f054cf0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d69611a5264092"/>
    <p:sldLayoutId xmlns:r="http://schemas.openxmlformats.org/officeDocument/2006/relationships" id="2147483650" r:id="R9eacc061c27e4c51"/>
    <p:sldLayoutId xmlns:r="http://schemas.openxmlformats.org/officeDocument/2006/relationships" id="2147483651" r:id="Rf1bc31074f054cf0"/>
    <p:sldLayoutId xmlns:r="http://schemas.openxmlformats.org/officeDocument/2006/relationships" id="2147483652" r:id="Rcc44c115e9524b75"/>
    <p:sldLayoutId xmlns:r="http://schemas.openxmlformats.org/officeDocument/2006/relationships" id="2147483653" r:id="Rc3c43821ca444892"/>
    <p:sldLayoutId xmlns:r="http://schemas.openxmlformats.org/officeDocument/2006/relationships" id="2147483654" r:id="Rcbfef4363ac74a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d3e134a4c4749c4" Type="http://schemas.openxmlformats.org/officeDocument/2006/relationships/slideLayout" Target="../slideLayouts/slideLayout6.xml"/><Relationship Id="R68af06c29fec455c" Type="http://schemas.openxmlformats.org/officeDocument/2006/relationships/notesSlide" Target="../notesSlides/notesSlide1.xml"/><Relationship Id="R90a6167d342543e4" Type="http://schemas.openxmlformats.org/officeDocument/2006/relationships/image" Target="../media/delivery_010.jpg"/><Relationship Id="rId4" Type="http://schemas.openxmlformats.org/officeDocument/2006/relationships/image" Target="../media/delivery_011.jpg"/></Relationships>
</file>

<file path=ppt/slides/_rels/slide2.xml.rels><?xml version='1.0' encoding='UTF-8' standalone='yes'?>
<Relationships xmlns="http://schemas.openxmlformats.org/package/2006/relationships"><Relationship Id="Rbc1c94af81734a85" Type="http://schemas.openxmlformats.org/officeDocument/2006/relationships/slideLayout" Target="../slideLayouts/slideLayout6.xml"/><Relationship Id="Rc239d6393b1d44fd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e270ac92c82d4df2" Type="http://schemas.openxmlformats.org/officeDocument/2006/relationships/notesSlide" Target="../notesSlides/notesSlide3.xml"/><Relationship Id="Rfc0303b2abd94f10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a1afd777e44a4b23" Type="http://schemas.openxmlformats.org/officeDocument/2006/relationships/slideLayout" Target="../slideLayouts/slideLayout6.xml"/><Relationship Id="Re8adfc5f4439461b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94600b34aa34407" Type="http://schemas.openxmlformats.org/officeDocument/2006/relationships/slideLayout" Target="../slideLayouts/slideLayout6.xml"/><Relationship Id="R746cf198c4d04156" Type="http://schemas.openxmlformats.org/officeDocument/2006/relationships/image" Target="../media/delivery_012.jpg"/><Relationship Id="R85ebfcc858ac4f5f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delivery_012.jpg"/></Relationships>
</file>

<file path=ppt/slides/_rels/slide7.xml.rels><?xml version='1.0' encoding='UTF-8' standalone='yes'?>
<Relationships xmlns="http://schemas.openxmlformats.org/package/2006/relationships"><Relationship Id="R9978f66a9e454b03" Type="http://schemas.openxmlformats.org/officeDocument/2006/relationships/slideLayout" Target="../slideLayouts/slideLayout6.xml"/><Relationship Id="R9bba34850a744c2b" Type="http://schemas.openxmlformats.org/officeDocument/2006/relationships/image" Target="../media/delivery_001.jpg"/><Relationship Id="Rdb812c9bc9e849ff" Type="http://schemas.openxmlformats.org/officeDocument/2006/relationships/image" Target="../media/delivery_002.jpg"/><Relationship Id="Rf015ebce71b24646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44fe97c4b4eb4f6f" Type="http://schemas.openxmlformats.org/officeDocument/2006/relationships/notesSlide" Target="../notesSlides/notesSlide7.xml"/><Relationship Id="R911b7a7290814a33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b99f27db248a464d" Type="http://schemas.openxmlformats.org/officeDocument/2006/relationships/notesSlide" Target="../notesSlides/notesSlide8.xml"/><Relationship Id="Re36d0c9725634c44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00db924ff24242cc" Type="http://schemas.openxmlformats.org/officeDocument/2006/relationships/image" Target="../media/delivery_004.jpg"/><Relationship Id="R0c1ea80e21fa4895" Type="http://schemas.openxmlformats.org/officeDocument/2006/relationships/notesSlide" Target="../notesSlides/notesSlide9.xml"/><Relationship Id="R10ea90e9f1314411" Type="http://schemas.openxmlformats.org/officeDocument/2006/relationships/image" Target="../media/delivery_005.jpg"/><Relationship Id="R57bbf65067574d35" Type="http://schemas.openxmlformats.org/officeDocument/2006/relationships/slideLayout" Target="../slideLayouts/slideLayout6.xml"/><Relationship Id="R7f227991757a4e8b" Type="http://schemas.openxmlformats.org/officeDocument/2006/relationships/image" Target="../media/delivery_006.jpg"/></Relationships>
</file>

<file path=ppt/slides/_rels/slide11.xml.rels><?xml version='1.0' encoding='UTF-8' standalone='yes'?>
<Relationships xmlns="http://schemas.openxmlformats.org/package/2006/relationships"><Relationship Id="R6295dd4ea55649da" Type="http://schemas.openxmlformats.org/officeDocument/2006/relationships/notesSlide" Target="../notesSlides/notesSlide10.xml"/><Relationship Id="R7ed090e7d1a140c7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5eb4bb1b89ee42ba" Type="http://schemas.openxmlformats.org/officeDocument/2006/relationships/notesSlide" Target="../notesSlides/notesSlide11.xml"/><Relationship Id="R6fb28bb536984f20" Type="http://schemas.openxmlformats.org/officeDocument/2006/relationships/slideLayout" Target="../slideLayouts/slideLayout6.xml"/><Relationship Id="Rb81793a7b5144d70" Type="http://schemas.openxmlformats.org/officeDocument/2006/relationships/image" Target="../media/delivery_007.jpg"/><Relationship Id="rId4" Type="http://schemas.openxmlformats.org/officeDocument/2006/relationships/image" Target="../media/delivery_008.jpg"/></Relationships>
</file>

<file path=ppt/slides/_rels/slide14.xml.rels><?xml version='1.0' encoding='UTF-8' standalone='yes'?>
<Relationships xmlns="http://schemas.openxmlformats.org/package/2006/relationships"><Relationship Id="R0c83a319e89d411a" Type="http://schemas.openxmlformats.org/officeDocument/2006/relationships/slideLayout" Target="../slideLayouts/slideLayout6.xml"/><Relationship Id="Rb4fe462786384756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0875750920bb43e8" Type="http://schemas.openxmlformats.org/officeDocument/2006/relationships/image" Target="../media/delivery_003.jpg"/><Relationship Id="R678287be5ef2460e" Type="http://schemas.openxmlformats.org/officeDocument/2006/relationships/slideLayout" Target="../slideLayouts/slideLayout6.xml"/><Relationship Id="R84e3faa92ef5492d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005c5657df78458c" Type="http://schemas.openxmlformats.org/officeDocument/2006/relationships/image" Target="../media/delivery_009.jpg"/><Relationship Id="R019aa7c3f33b4d17" Type="http://schemas.openxmlformats.org/officeDocument/2006/relationships/notesSlide" Target="../notesSlides/notesSlide14.xml"/><Relationship Id="R48f91b5613744bd2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8da5294f39264072" Type="http://schemas.openxmlformats.org/officeDocument/2006/relationships/notesSlide" Target="../notesSlides/notesSlide15.xml"/><Relationship Id="Rcfe4063986164a39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d453bbda63364677" Type="http://schemas.openxmlformats.org/officeDocument/2006/relationships/slideLayout" Target="../slideLayouts/slideLayout6.xml"/><Relationship Id="Rf972e0402f5f4f41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0e5c8347f43748fe" Type="http://schemas.openxmlformats.org/officeDocument/2006/relationships/notesSlide" Target="../notesSlides/notesSlide17.xml"/><Relationship Id="R5df343643b124a75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69c38557ac8f4c7f" Type="http://schemas.openxmlformats.org/officeDocument/2006/relationships/slideLayout" Target="../slideLayouts/slideLayout6.xml"/><Relationship Id="R8ce600370d0e41e1" Type="http://schemas.openxmlformats.org/officeDocument/2006/relationships/notesSlide" Target="../notesSlides/notesSlide18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飞鹤  /  MID-AUTUMN CA">
            <a:extLst xmlns:a="http://schemas.openxmlformats.org/drawingml/2006/main">
              <a:ext uri="{FF2B5EF4-FFF2-40B4-BE49-F238E27FC236}">
                <a16:creationId xmlns:a16="http://schemas.microsoft.com/office/drawing/2014/main" id="{6E135DA8-828E-47C4-BD6C-1FCA151F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2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2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2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2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2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2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2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2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2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14F88"/>
                </a:solidFill>
                <a:latin typeface="Noto Sans SC"/>
                <a:ea typeface="Noto Sans SC"/>
                <a:cs typeface="Noto Sans SC"/>
              </a:rPr>
              <a:t>飞鹤  /  MID-AUTUMN CAMPAIGN</a:t>
            </a:r>
          </a:p>
        </p:txBody>
      </p:sp>
      <p:sp>
        <p:nvSpPr>
          <p:cNvPr id="3" name="新秋新气象&#10;点灯祝团圆">
            <a:extLst xmlns:a="http://schemas.openxmlformats.org/drawingml/2006/main">
              <a:ext uri="{FF2B5EF4-FFF2-40B4-BE49-F238E27FC236}">
                <a16:creationId xmlns:a16="http://schemas.microsoft.com/office/drawing/2014/main" id="{B381F9CF-33F4-48D8-8C5E-6D9AAEA4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4667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97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97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97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97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97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97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97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97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97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3100" b="1">
                <a:solidFill>
                  <a:srgbClr val="383D42"/>
                </a:solidFill>
                <a:latin typeface="Noto Sans SC"/>
                <a:ea typeface="Noto Sans SC"/>
                <a:cs typeface="Noto Sans SC"/>
              </a:rPr>
              <a:t>新秋新气象</a:t>
            </a:r>
          </a:p>
          <a:p xmlns:a="http://schemas.openxmlformats.org/drawingml/2006/main">
            <a:pPr>
              <a:defRPr sz="397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3100" b="1">
                <a:solidFill>
                  <a:srgbClr val="383D42"/>
                </a:solidFill>
                <a:latin typeface="Noto Sans SC"/>
                <a:ea typeface="Noto Sans SC"/>
                <a:cs typeface="Noto Sans SC"/>
              </a:rPr>
              <a:t>点灯祝团圆</a:t>
            </a:r>
          </a:p>
        </p:txBody>
      </p:sp>
      <p:sp>
        <p:nvSpPr>
          <p:cNvPr id="4" name="小牛IP × 小红书种草 × 商场中庭亲">
            <a:extLst xmlns:a="http://schemas.openxmlformats.org/drawingml/2006/main">
              <a:ext uri="{FF2B5EF4-FFF2-40B4-BE49-F238E27FC236}">
                <a16:creationId xmlns:a16="http://schemas.microsoft.com/office/drawing/2014/main" id="{8EDD33C8-14F3-427E-9213-03826B0A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81425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小牛IP × 小红书种草 × 商场中庭亲子体验</a:t>
            </a:r>
          </a:p>
        </p:txBody>
      </p:sp>
      <p:sp>
        <p:nvSpPr>
          <p:cNvPr id="5" name="中秋整合传播与活动创意提案">
            <a:extLst xmlns:a="http://schemas.openxmlformats.org/drawingml/2006/main">
              <a:ext uri="{FF2B5EF4-FFF2-40B4-BE49-F238E27FC236}">
                <a16:creationId xmlns:a16="http://schemas.microsoft.com/office/drawing/2014/main" id="{2B554E98-8C4C-48EA-8A6B-8D62A86A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7912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rPr>
              <a:t>中秋整合传播与活动创意提案</a:t>
            </a:r>
          </a:p>
        </p:txBody>
      </p:sp>
      <p:pic xmlns:a="http://schemas.openxmlformats.org/drawingml/2006/main" xmlns:r="http://schemas.openxmlformats.org/officeDocument/2006/relationships">
        <p:nvPicPr>
          <p:cNvPr id="6" name="Picture 5" descr="scene-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0"/>
            <a:ext cx="7048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0980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02  /  飞鹤中秋亲子游园会">
            <a:extLst xmlns:a="http://schemas.openxmlformats.org/drawingml/2006/main">
              <a:ext uri="{FF2B5EF4-FFF2-40B4-BE49-F238E27FC236}">
                <a16:creationId xmlns:a16="http://schemas.microsoft.com/office/drawing/2014/main" id="{B56FE51F-9326-460C-A59F-DFF242D6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02  /  飞鹤中秋亲子游园会</a:t>
            </a:r>
          </a:p>
        </p:txBody>
      </p:sp>
      <p:sp>
        <p:nvSpPr>
          <p:cNvPr id="2" name="把节日兴趣变成到场与回访">
            <a:extLst xmlns:a="http://schemas.openxmlformats.org/drawingml/2006/main">
              <a:ext uri="{FF2B5EF4-FFF2-40B4-BE49-F238E27FC236}">
                <a16:creationId xmlns:a16="http://schemas.microsoft.com/office/drawing/2014/main" id="{365403BC-0420-412E-B03F-C1A019EE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383D42"/>
                </a:solidFill>
                <a:latin typeface="Noto Sans SC"/>
                <a:ea typeface="Noto Sans SC"/>
                <a:cs typeface="Noto Sans SC"/>
              </a:rPr>
              <a:t>把节日兴趣变成到场与回访</a:t>
            </a:r>
          </a:p>
        </p:txBody>
      </p:sp>
      <p:sp>
        <p:nvSpPr>
          <p:cNvPr id="3" name="面向1—3岁宝宝家庭，以宝妈为主要决策者">
            <a:extLst xmlns:a="http://schemas.openxmlformats.org/drawingml/2006/main">
              <a:ext uri="{FF2B5EF4-FFF2-40B4-BE49-F238E27FC236}">
                <a16:creationId xmlns:a16="http://schemas.microsoft.com/office/drawing/2014/main" id="{5C3D0978-0F7E-45B0-BB4E-35CCAA3A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rPr>
              <a:t>面向1—3岁宝宝家庭，以宝妈为主要决策者</a:t>
            </a:r>
          </a:p>
        </p:txBody>
      </p:sp>
      <p:sp>
        <p:nvSpPr>
          <p:cNvPr id="4" name="引流">
            <a:extLst xmlns:a="http://schemas.openxmlformats.org/drawingml/2006/main">
              <a:ext uri="{FF2B5EF4-FFF2-40B4-BE49-F238E27FC236}">
                <a16:creationId xmlns:a16="http://schemas.microsoft.com/office/drawing/2014/main" id="{E43542E4-9BFD-45CE-B512-B43C65F6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引流</a:t>
            </a:r>
          </a:p>
        </p:txBody>
      </p:sp>
      <p:sp>
        <p:nvSpPr>
          <p:cNvPr id="5" name="用“宝宝第一次点亮中秋月灯”的亲子体验，">
            <a:extLst xmlns:a="http://schemas.openxmlformats.org/drawingml/2006/main">
              <a:ext uri="{FF2B5EF4-FFF2-40B4-BE49-F238E27FC236}">
                <a16:creationId xmlns:a16="http://schemas.microsoft.com/office/drawing/2014/main" id="{1E60CA7B-6D23-4C7B-B2E6-7A29E81A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241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用“宝宝第一次点亮中秋月灯”的亲子体验，给宝妈一个愿意带娃出门的理由。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A1F99-18E7-48D8-9545-DBC7A0AE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670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新客">
            <a:extLst xmlns:a="http://schemas.openxmlformats.org/drawingml/2006/main">
              <a:ext uri="{FF2B5EF4-FFF2-40B4-BE49-F238E27FC236}">
                <a16:creationId xmlns:a16="http://schemas.microsoft.com/office/drawing/2014/main" id="{391C73AE-310D-4BE1-97D6-A7CA2B7D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5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5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5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5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5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5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5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5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5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新客</a:t>
            </a:r>
          </a:p>
        </p:txBody>
      </p:sp>
      <p:sp>
        <p:nvSpPr>
          <p:cNvPr id="8" name="通过可验证的包装信息和温和的一对一讲解，">
            <a:extLst xmlns:a="http://schemas.openxmlformats.org/drawingml/2006/main">
              <a:ext uri="{FF2B5EF4-FFF2-40B4-BE49-F238E27FC236}">
                <a16:creationId xmlns:a16="http://schemas.microsoft.com/office/drawing/2014/main" id="{BA6D7BE6-A95B-4B27-9495-F1AEE602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590925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通过可验证的包装信息和温和的一对一讲解，降低初次了解产品的门槛。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55B27-6A30-4660-BEDB-B01EF7C3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33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老客">
            <a:extLst xmlns:a="http://schemas.openxmlformats.org/drawingml/2006/main">
              <a:ext uri="{FF2B5EF4-FFF2-40B4-BE49-F238E27FC236}">
                <a16:creationId xmlns:a16="http://schemas.microsoft.com/office/drawing/2014/main" id="{7A9915BC-3097-47DA-A891-A2F189DF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3870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老客</a:t>
            </a:r>
          </a:p>
        </p:txBody>
      </p:sp>
      <p:sp>
        <p:nvSpPr>
          <p:cNvPr id="11" name="把到场、任务和礼遇接入既有会员触点，形成">
            <a:extLst xmlns:a="http://schemas.openxmlformats.org/drawingml/2006/main">
              <a:ext uri="{FF2B5EF4-FFF2-40B4-BE49-F238E27FC236}">
                <a16:creationId xmlns:a16="http://schemas.microsoft.com/office/drawing/2014/main" id="{0D56F050-8D5C-4B9D-BB7A-8251D4D4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57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把到场、任务和礼遇接入既有会员触点，形成节后可持续的回访线索。</a:t>
            </a:r>
          </a:p>
        </p:txBody>
      </p:sp>
      <p:sp>
        <p:nvSpPr>
          <p:cNvPr id="12" name="02  /  方案概念">
            <a:extLst xmlns:a="http://schemas.openxmlformats.org/drawingml/2006/main">
              <a:ext uri="{FF2B5EF4-FFF2-40B4-BE49-F238E27FC236}">
                <a16:creationId xmlns:a16="http://schemas.microsoft.com/office/drawing/2014/main" id="{205CE733-4B73-4472-9C02-04A2CE92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02  /  方案概念</a:t>
            </a:r>
          </a:p>
        </p:txBody>
      </p:sp>
    </p:spTree>
    <p:extLst>
      <p:ext uri="{BB962C8B-B14F-4D97-AF65-F5344CB8AC3E}">
        <p14:creationId xmlns:p14="http://schemas.microsoft.com/office/powerpoint/2010/main" val="20274982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03  /  飞鹤中秋亲子游园会">
            <a:extLst xmlns:a="http://schemas.openxmlformats.org/drawingml/2006/main">
              <a:ext uri="{FF2B5EF4-FFF2-40B4-BE49-F238E27FC236}">
                <a16:creationId xmlns:a16="http://schemas.microsoft.com/office/drawing/2014/main" id="{A9C510E9-1D2F-4AE9-AAA0-DCCDF2E0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03  /  飞鹤中秋亲子游园会</a:t>
            </a:r>
          </a:p>
        </p:txBody>
      </p:sp>
      <p:sp>
        <p:nvSpPr>
          <p:cNvPr id="2" name="宝妈愿意参与的四个条件">
            <a:extLst xmlns:a="http://schemas.openxmlformats.org/drawingml/2006/main">
              <a:ext uri="{FF2B5EF4-FFF2-40B4-BE49-F238E27FC236}">
                <a16:creationId xmlns:a16="http://schemas.microsoft.com/office/drawing/2014/main" id="{076231A1-8E6F-4EB7-BE6A-E6127621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383D42"/>
                </a:solidFill>
                <a:latin typeface="Noto Sans SC"/>
                <a:ea typeface="Noto Sans SC"/>
                <a:cs typeface="Noto Sans SC"/>
              </a:rPr>
              <a:t>宝妈愿意参与的四个条件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7AAA2D5F-6020-4060-A056-1C412D1E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4" name="省心">
            <a:extLst xmlns:a="http://schemas.openxmlformats.org/drawingml/2006/main">
              <a:ext uri="{FF2B5EF4-FFF2-40B4-BE49-F238E27FC236}">
                <a16:creationId xmlns:a16="http://schemas.microsoft.com/office/drawing/2014/main" id="{9E8AFCAA-7421-42D4-98C1-6D1DE050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8478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省心</a:t>
            </a:r>
          </a:p>
        </p:txBody>
      </p:sp>
      <p:sp>
        <p:nvSpPr>
          <p:cNvPr id="5" name="室内中庭可达，游园约30分钟，推车友好，">
            <a:extLst xmlns:a="http://schemas.openxmlformats.org/drawingml/2006/main">
              <a:ext uri="{FF2B5EF4-FFF2-40B4-BE49-F238E27FC236}">
                <a16:creationId xmlns:a16="http://schemas.microsoft.com/office/drawing/2014/main" id="{D9D79A54-D090-4017-BF58-E82A9996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57375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室内中庭可达，游园约30分钟，推车友好，活动任务简单。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E9BDE-2D23-43C5-9872-B02B7FFE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A1115F74-0B82-4CDE-A0AB-8CF58A3D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051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8" name="有陪伴感">
            <a:extLst xmlns:a="http://schemas.openxmlformats.org/drawingml/2006/main">
              <a:ext uri="{FF2B5EF4-FFF2-40B4-BE49-F238E27FC236}">
                <a16:creationId xmlns:a16="http://schemas.microsoft.com/office/drawing/2014/main" id="{D8FA45B3-18AB-4AB3-BCE6-26533746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9051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有陪伴感</a:t>
            </a:r>
          </a:p>
        </p:txBody>
      </p:sp>
      <p:sp>
        <p:nvSpPr>
          <p:cNvPr id="9" name="宝宝能自己选一枚月亮图案，和妈妈共同完成">
            <a:extLst xmlns:a="http://schemas.openxmlformats.org/drawingml/2006/main">
              <a:ext uri="{FF2B5EF4-FFF2-40B4-BE49-F238E27FC236}">
                <a16:creationId xmlns:a16="http://schemas.microsoft.com/office/drawing/2014/main" id="{D5C856BF-8BCE-41F1-B15D-AF14D427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14650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宝宝能自己选一枚月亮图案，和妈妈共同完成点灯。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D47D9-3733-4169-B03E-96239286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2EBDD1DD-50A7-4AE7-B546-F3132C39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6240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2" name="了解得明白">
            <a:extLst xmlns:a="http://schemas.openxmlformats.org/drawingml/2006/main">
              <a:ext uri="{FF2B5EF4-FFF2-40B4-BE49-F238E27FC236}">
                <a16:creationId xmlns:a16="http://schemas.microsoft.com/office/drawing/2014/main" id="{3AB4E509-3E8B-4A9A-BBB5-CB90BB60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9624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了解得明白</a:t>
            </a:r>
          </a:p>
        </p:txBody>
      </p:sp>
      <p:sp>
        <p:nvSpPr>
          <p:cNvPr id="13" name="现场看真实罐身标签，按宝宝月龄核对适用阶">
            <a:extLst xmlns:a="http://schemas.openxmlformats.org/drawingml/2006/main">
              <a:ext uri="{FF2B5EF4-FFF2-40B4-BE49-F238E27FC236}">
                <a16:creationId xmlns:a16="http://schemas.microsoft.com/office/drawing/2014/main" id="{74BB8BD3-34CE-44F6-B5F5-23C2BC98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71925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现场看真实罐身标签，按宝宝月龄核对适用阶段与使用说明。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B3EF5-2F59-48F3-80C1-CD7A2DB7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36F0D755-5EE0-4BC6-BB2E-0538C2FC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967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6" name="有可带走的记忆">
            <a:extLst xmlns:a="http://schemas.openxmlformats.org/drawingml/2006/main">
              <a:ext uri="{FF2B5EF4-FFF2-40B4-BE49-F238E27FC236}">
                <a16:creationId xmlns:a16="http://schemas.microsoft.com/office/drawing/2014/main" id="{D8CFDA12-8B23-4098-B9BE-DC0F973F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01967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有可带走的记忆</a:t>
            </a:r>
          </a:p>
        </p:txBody>
      </p:sp>
      <p:sp>
        <p:nvSpPr>
          <p:cNvPr id="17" name="一张合影、一盏小灯、一份实用的亲子礼，让">
            <a:extLst xmlns:a="http://schemas.openxmlformats.org/drawingml/2006/main">
              <a:ext uri="{FF2B5EF4-FFF2-40B4-BE49-F238E27FC236}">
                <a16:creationId xmlns:a16="http://schemas.microsoft.com/office/drawing/2014/main" id="{1E1343B9-5967-44C2-892B-354EA9FA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29200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一张合影、一盏小灯、一份实用的亲子礼，让节日体验延续。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C9E82-C37B-4EB5-8750-683C4A50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03  /  方案概念">
            <a:extLst xmlns:a="http://schemas.openxmlformats.org/drawingml/2006/main">
              <a:ext uri="{FF2B5EF4-FFF2-40B4-BE49-F238E27FC236}">
                <a16:creationId xmlns:a16="http://schemas.microsoft.com/office/drawing/2014/main" id="{E25BF4DE-CE76-44C2-AECE-592AB556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03  /  方案概念</a:t>
            </a:r>
          </a:p>
        </p:txBody>
      </p:sp>
    </p:spTree>
    <p:extLst>
      <p:ext uri="{BB962C8B-B14F-4D97-AF65-F5344CB8AC3E}">
        <p14:creationId xmlns:p14="http://schemas.microsoft.com/office/powerpoint/2010/main" val="19788486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3F8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核心创意">
            <a:extLst xmlns:a="http://schemas.openxmlformats.org/drawingml/2006/main">
              <a:ext uri="{FF2B5EF4-FFF2-40B4-BE49-F238E27FC236}">
                <a16:creationId xmlns:a16="http://schemas.microsoft.com/office/drawing/2014/main" id="{EE6254CF-AFFE-459D-B603-DBBA28E5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4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4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4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4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4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4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4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4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4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2D38B"/>
                </a:solidFill>
                <a:latin typeface="Noto Sans SC"/>
                <a:ea typeface="Noto Sans SC"/>
                <a:cs typeface="Noto Sans SC"/>
              </a:rPr>
              <a:t>核心创意</a:t>
            </a:r>
          </a:p>
        </p:txBody>
      </p:sp>
      <p:sp>
        <p:nvSpPr>
          <p:cNvPr id="2" name="新秋新气象">
            <a:extLst xmlns:a="http://schemas.openxmlformats.org/drawingml/2006/main">
              <a:ext uri="{FF2B5EF4-FFF2-40B4-BE49-F238E27FC236}">
                <a16:creationId xmlns:a16="http://schemas.microsoft.com/office/drawing/2014/main" id="{8E9EAB16-E469-4BA2-80E8-F95A37D0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71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0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50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50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50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50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50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50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50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50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50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5025" b="1">
                <a:solidFill>
                  <a:srgbClr val="FBF7EF"/>
                </a:solidFill>
                <a:latin typeface="Noto Sans SC"/>
                <a:ea typeface="Noto Sans SC"/>
                <a:cs typeface="Noto Sans SC"/>
              </a:defRPr>
            </a:pPr>
            <a:r>
              <a:rPr sz="3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新秋新气象</a:t>
            </a:r>
          </a:p>
        </p:txBody>
      </p:sp>
      <p:sp>
        <p:nvSpPr>
          <p:cNvPr id="3" name="活力满满，点灯祝团圆">
            <a:extLst xmlns:a="http://schemas.openxmlformats.org/drawingml/2006/main">
              <a:ext uri="{FF2B5EF4-FFF2-40B4-BE49-F238E27FC236}">
                <a16:creationId xmlns:a16="http://schemas.microsoft.com/office/drawing/2014/main" id="{53042ECA-10DC-4914-ACA4-85C1B3EE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193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000" b="1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000" b="1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000" b="1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000" b="1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000" b="1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000" b="1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000" b="1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000" b="1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000" b="1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pPr>
            <a:r>
              <a:rPr sz="2600" b="1">
                <a:solidFill>
                  <a:srgbClr val="F0CA74"/>
                </a:solidFill>
                <a:latin typeface="Noto Sans SC"/>
                <a:ea typeface="Noto Sans SC"/>
                <a:cs typeface="Noto Sans SC"/>
              </a:rPr>
              <a:t>活力满满，点灯祝团圆</a:t>
            </a:r>
          </a:p>
        </p:txBody>
      </p:sp>
      <p:sp>
        <p:nvSpPr>
          <p:cNvPr id="4" name="小牛陪宝宝从秋日走进月夜。点亮的那一刻，">
            <a:extLst xmlns:a="http://schemas.openxmlformats.org/drawingml/2006/main">
              <a:ext uri="{FF2B5EF4-FFF2-40B4-BE49-F238E27FC236}">
                <a16:creationId xmlns:a16="http://schemas.microsoft.com/office/drawing/2014/main" id="{077B821C-5391-4C8B-832E-34BCF317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9525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EEF1F4"/>
                </a:solidFill>
                <a:latin typeface="Noto Sans SC"/>
                <a:ea typeface="Noto Sans SC"/>
                <a:cs typeface="Noto Sans SC"/>
              </a:rPr>
              <a:t>小牛陪宝宝从秋日走进月夜。点亮的那一刻，妈妈把这一年里属于孩子的小小成长留住。</a:t>
            </a:r>
          </a:p>
        </p:txBody>
      </p:sp>
      <p:sp>
        <p:nvSpPr>
          <p:cNvPr id="5" name="秋日出游  /  亲子点灯  /  团圆">
            <a:extLst xmlns:a="http://schemas.openxmlformats.org/drawingml/2006/main">
              <a:ext uri="{FF2B5EF4-FFF2-40B4-BE49-F238E27FC236}">
                <a16:creationId xmlns:a16="http://schemas.microsoft.com/office/drawing/2014/main" id="{13D6E3F2-E71D-4F70-85DE-52692E67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53402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00" b="0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00" b="0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00" b="0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00" b="0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00" b="0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00" b="0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00" b="0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00" b="0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00" b="0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6C27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E6C27B"/>
                </a:solidFill>
                <a:latin typeface="Noto Sans SC"/>
                <a:ea typeface="Noto Sans SC"/>
                <a:cs typeface="Noto Sans SC"/>
              </a:rPr>
              <a:t>秋日出游  /  亲子点灯  /  团圆礼遇</a:t>
            </a:r>
          </a:p>
        </p:txBody>
      </p:sp>
    </p:spTree>
    <p:extLst>
      <p:ext uri="{BB962C8B-B14F-4D97-AF65-F5344CB8AC3E}">
        <p14:creationId xmlns:p14="http://schemas.microsoft.com/office/powerpoint/2010/main" val="638454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5  /  飞鹤中秋亲子游园会">
            <a:extLst xmlns:a="http://schemas.openxmlformats.org/drawingml/2006/main">
              <a:ext uri="{FF2B5EF4-FFF2-40B4-BE49-F238E27FC236}">
                <a16:creationId xmlns:a16="http://schemas.microsoft.com/office/drawing/2014/main" id="{A96B5A7C-0F26-405A-B7D1-9B0482D6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05  /  飞鹤中秋亲子游园会</a:t>
            </a:r>
          </a:p>
        </p:txBody>
      </p:sp>
      <p:sp>
        <p:nvSpPr>
          <p:cNvPr id="2" name="小牛IP：从秋日的活力走向团圆的光">
            <a:extLst xmlns:a="http://schemas.openxmlformats.org/drawingml/2006/main">
              <a:ext uri="{FF2B5EF4-FFF2-40B4-BE49-F238E27FC236}">
                <a16:creationId xmlns:a16="http://schemas.microsoft.com/office/drawing/2014/main" id="{A0589510-B125-4F3D-A50B-F95F1D5B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383D42"/>
                </a:solidFill>
                <a:latin typeface="Noto Sans SC"/>
                <a:ea typeface="Noto Sans SC"/>
                <a:cs typeface="Noto Sans SC"/>
              </a:rPr>
              <a:t>小牛IP：从秋日的活力走向团圆的光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ED413-036B-438D-ADC2-80188733B3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cf198c4d04156"/>
          <a:stretch xmlns:a="http://schemas.openxmlformats.org/drawingml/2006/main"/>
        </p:blipFill>
        <p:spPr>
          <a:xfrm xmlns:a="http://schemas.openxmlformats.org/drawingml/2006/main">
            <a:off x="552450" y="2016436"/>
            <a:ext cx="7239000" cy="3015629"/>
          </a:xfrm>
          <a:prstGeom xmlns:a="http://schemas.openxmlformats.org/drawingml/2006/main" prst="rect">
            <a:avLst/>
          </a:prstGeom>
        </p:spPr>
      </p:pic>
      <p:sp>
        <p:nvSpPr>
          <p:cNvPr id="4" name="三种传播动作">
            <a:extLst xmlns:a="http://schemas.openxmlformats.org/drawingml/2006/main">
              <a:ext uri="{FF2B5EF4-FFF2-40B4-BE49-F238E27FC236}">
                <a16:creationId xmlns:a16="http://schemas.microsoft.com/office/drawing/2014/main" id="{E7D4AE2F-4B4F-4D90-A771-4347F064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47875"/>
            <a:ext cx="295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三种传播动作</a:t>
            </a:r>
          </a:p>
        </p:txBody>
      </p:sp>
      <p:sp>
        <p:nvSpPr>
          <p:cNvPr id="5" name="跃起  迎接新秋&#10;提灯  邀请亲子点亮&#10;">
            <a:extLst xmlns:a="http://schemas.openxmlformats.org/drawingml/2006/main">
              <a:ext uri="{FF2B5EF4-FFF2-40B4-BE49-F238E27FC236}">
                <a16:creationId xmlns:a16="http://schemas.microsoft.com/office/drawing/2014/main" id="{9C1483D4-A43D-4971-9E7F-B447ABAD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695575"/>
            <a:ext cx="328612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9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9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9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9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9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9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9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9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9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跃起  迎接新秋</a:t>
            </a:r>
          </a:p>
          <a:p xmlns:a="http://schemas.openxmlformats.org/drawingml/2006/main">
            <a:pPr>
              <a:defRPr sz="19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提灯  邀请亲子点亮</a:t>
            </a:r>
          </a:p>
          <a:p xmlns:a="http://schemas.openxmlformats.org/drawingml/2006/main">
            <a:pPr>
              <a:defRPr sz="19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张开手  迎接团圆</a:t>
            </a:r>
          </a:p>
        </p:txBody>
      </p:sp>
      <p:sp>
        <p:nvSpPr>
          <p:cNvPr id="6" name="固定牛角、斑纹、粉鼻、红斗篷与格纹裙；人">
            <a:extLst xmlns:a="http://schemas.openxmlformats.org/drawingml/2006/main">
              <a:ext uri="{FF2B5EF4-FFF2-40B4-BE49-F238E27FC236}">
                <a16:creationId xmlns:a16="http://schemas.microsoft.com/office/drawing/2014/main" id="{92CD789F-AD69-4C13-9413-6CC847C0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10150"/>
            <a:ext cx="31718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rPr>
              <a:t>固定牛角、斑纹、粉鼻、红斗篷与格纹裙；人物动作变化，识别点不变。</a:t>
            </a:r>
          </a:p>
        </p:txBody>
      </p:sp>
      <p:sp>
        <p:nvSpPr>
          <p:cNvPr id="7" name="05  /  方案概念">
            <a:extLst xmlns:a="http://schemas.openxmlformats.org/drawingml/2006/main">
              <a:ext uri="{FF2B5EF4-FFF2-40B4-BE49-F238E27FC236}">
                <a16:creationId xmlns:a16="http://schemas.microsoft.com/office/drawing/2014/main" id="{0A7CA8E8-0855-40CA-AA80-AB2DCBA5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05  /  方案概念</a:t>
            </a:r>
          </a:p>
        </p:txBody>
      </p:sp>
    </p:spTree>
    <p:extLst>
      <p:ext uri="{BB962C8B-B14F-4D97-AF65-F5344CB8AC3E}">
        <p14:creationId xmlns:p14="http://schemas.microsoft.com/office/powerpoint/2010/main" val="1973133318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14F88"/>
                </a:solidFill>
                <a:latin typeface="Noto Sans SC"/>
              </a:rPr>
              <a:t>IP SYSTEM / 活动形象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383D42"/>
                </a:solidFill>
                <a:latin typeface="Noto Sans SC"/>
              </a:rPr>
              <a:t>小牛团团：陪宝宝完成第一次中秋点灯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5898C"/>
                </a:solidFill>
                <a:latin typeface="Noto Sans SC"/>
              </a:rPr>
              <a:t>建议活动名，可在品牌IP命名与法务审核后定稿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38528"/>
            <a:ext cx="4800600" cy="2514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89320" y="1956816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14F88"/>
                </a:solidFill>
                <a:latin typeface="Noto Sans SC"/>
              </a:rPr>
              <a:t>角色任务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6368" y="1956816"/>
            <a:ext cx="3703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5B60"/>
                </a:solidFill>
                <a:latin typeface="Noto Sans SC"/>
              </a:rPr>
              <a:t>秋日游园的同行者，也是点灯仪式的引导员。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9320" y="2743200"/>
            <a:ext cx="5394960" cy="0"/>
          </a:xfrm>
          <a:prstGeom prst="line">
            <a:avLst/>
          </a:prstGeom>
          <a:ln w="10160">
            <a:solidFill>
              <a:srgbClr val="E5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89320" y="2980944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14F88"/>
                </a:solidFill>
                <a:latin typeface="Noto Sans SC"/>
              </a:rPr>
              <a:t>识别锚点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368" y="2980944"/>
            <a:ext cx="3703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5B60"/>
                </a:solidFill>
                <a:latin typeface="Noto Sans SC"/>
              </a:rPr>
              <a:t>奶牛黑斑、弯角、红斗篷、格纹裙与手提月灯；跨物料保持比例与配色。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9320" y="3767328"/>
            <a:ext cx="5394960" cy="0"/>
          </a:xfrm>
          <a:prstGeom prst="line">
            <a:avLst/>
          </a:prstGeom>
          <a:ln w="10160">
            <a:solidFill>
              <a:srgbClr val="E5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89320" y="4005072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14F88"/>
                </a:solidFill>
                <a:latin typeface="Noto Sans SC"/>
              </a:rPr>
              <a:t>动作表情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4005072"/>
            <a:ext cx="3703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5B60"/>
                </a:solidFill>
                <a:latin typeface="Noto Sans SC"/>
              </a:rPr>
              <a:t>招手欢迎 / 提灯指路 / 伸手共点；表情温和、动作幅度清晰。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4773168"/>
            <a:ext cx="10725912" cy="0"/>
          </a:xfrm>
          <a:prstGeom prst="line">
            <a:avLst/>
          </a:prstGeom>
          <a:ln w="10160">
            <a:solidFill>
              <a:srgbClr val="E5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4956048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72A31"/>
                </a:solidFill>
                <a:latin typeface="Noto Sans SC"/>
              </a:rPr>
              <a:t>IP落点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4910328"/>
            <a:ext cx="9144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5B60"/>
                </a:solidFill>
                <a:latin typeface="Noto Sans SC"/>
              </a:rPr>
              <a:t>主KV与入口立牌  /  游园卡与任务章  /  灯台导视  /  贴纸与电子相框  /  节后回顾内容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632704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5898C"/>
                </a:solidFill>
                <a:latin typeface="Noto Sans SC"/>
              </a:rPr>
              <a:t>执行统一：以原三视图为造型基准；品牌标识、产品包装及对外使用范围按正式授权文件落版。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327648"/>
            <a:ext cx="10899648" cy="0"/>
          </a:xfrm>
          <a:prstGeom prst="line">
            <a:avLst/>
          </a:prstGeom>
          <a:ln w="10160">
            <a:solidFill>
              <a:srgbClr val="E5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28232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5898C"/>
                </a:solidFill>
                <a:latin typeface="Noto Sans SC"/>
              </a:rPr>
              <a:t>IP应用建议  /  造型与品牌授权待确认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6  /  飞鹤中秋亲子游园会">
            <a:extLst xmlns:a="http://schemas.openxmlformats.org/drawingml/2006/main">
              <a:ext uri="{FF2B5EF4-FFF2-40B4-BE49-F238E27FC236}">
                <a16:creationId xmlns:a16="http://schemas.microsoft.com/office/drawing/2014/main" id="{E85BB67B-E659-40DF-ACA3-3C58C425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07  /  飞鹤中秋亲子游园会</a:t>
            </a:r>
          </a:p>
        </p:txBody>
      </p:sp>
      <p:sp>
        <p:nvSpPr>
          <p:cNvPr id="2" name="一条主张，两种视觉语气">
            <a:extLst xmlns:a="http://schemas.openxmlformats.org/drawingml/2006/main">
              <a:ext uri="{FF2B5EF4-FFF2-40B4-BE49-F238E27FC236}">
                <a16:creationId xmlns:a16="http://schemas.microsoft.com/office/drawing/2014/main" id="{24F2E5E9-A7C1-433D-9C9A-B967599F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383D42"/>
                </a:solidFill>
                <a:latin typeface="Noto Sans SC"/>
                <a:ea typeface="Noto Sans SC"/>
                <a:cs typeface="Noto Sans SC"/>
              </a:rPr>
              <a:t>一条主张，两种视觉语气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CEA8C-5B77-43AA-ADCA-BEF219A61B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a34850a744c2b"/>
          <a:srcRect xmlns:a="http://schemas.openxmlformats.org/drawingml/2006/main" l="0" t="327" r="0" b="3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" y="1781175"/>
            <a:ext cx="2762250" cy="34290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23389-C7E4-46AC-84E0-7A8808A4DF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12c9bc9e849ff"/>
          <a:srcRect xmlns:a="http://schemas.openxmlformats.org/drawingml/2006/main" l="0" t="327" r="0" b="3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29100" y="1781175"/>
            <a:ext cx="276225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小红书：真实亲子情绪">
            <a:extLst xmlns:a="http://schemas.openxmlformats.org/drawingml/2006/main">
              <a:ext uri="{FF2B5EF4-FFF2-40B4-BE49-F238E27FC236}">
                <a16:creationId xmlns:a16="http://schemas.microsoft.com/office/drawing/2014/main" id="{B96EC797-3AFB-48F8-9EB1-7D2D69D2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小红书：真实亲子情绪</a:t>
            </a:r>
          </a:p>
        </p:txBody>
      </p:sp>
      <p:sp>
        <p:nvSpPr>
          <p:cNvPr id="6" name="蓝天、牧场、秋装、手写字与少量黄色涂鸦，">
            <a:extLst xmlns:a="http://schemas.openxmlformats.org/drawingml/2006/main">
              <a:ext uri="{FF2B5EF4-FFF2-40B4-BE49-F238E27FC236}">
                <a16:creationId xmlns:a16="http://schemas.microsoft.com/office/drawing/2014/main" id="{0742AB2C-1502-4527-ABEC-650A31E4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19375"/>
            <a:ext cx="38195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蓝天、牧场、秋装、手写字与少量黄色涂鸦，让内容像一段可分享的亲子日记。</a:t>
            </a:r>
          </a:p>
        </p:txBody>
      </p:sp>
      <p:sp>
        <p:nvSpPr>
          <p:cNvPr id="7" name="现场：奶油白与香槟金">
            <a:extLst xmlns:a="http://schemas.openxmlformats.org/drawingml/2006/main">
              <a:ext uri="{FF2B5EF4-FFF2-40B4-BE49-F238E27FC236}">
                <a16:creationId xmlns:a16="http://schemas.microsoft.com/office/drawing/2014/main" id="{2C1C9C92-94A7-4F98-B17B-DEE0E5DD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33850"/>
            <a:ext cx="3943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现场：奶油白与香槟金</a:t>
            </a:r>
          </a:p>
        </p:txBody>
      </p:sp>
      <p:sp>
        <p:nvSpPr>
          <p:cNvPr id="8" name="月轮、柔光、飞鹤蓝与节日红，形成安静、精">
            <a:extLst xmlns:a="http://schemas.openxmlformats.org/drawingml/2006/main">
              <a:ext uri="{FF2B5EF4-FFF2-40B4-BE49-F238E27FC236}">
                <a16:creationId xmlns:a16="http://schemas.microsoft.com/office/drawing/2014/main" id="{53D29D02-B684-4B64-86C1-04F6E744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86300"/>
            <a:ext cx="3762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月轮、柔光、飞鹤蓝与节日红，形成安静、精致且适合拍照的中庭空间。</a:t>
            </a:r>
          </a:p>
        </p:txBody>
      </p:sp>
      <p:sp>
        <p:nvSpPr>
          <p:cNvPr id="9" name="06  /  方案概念">
            <a:extLst xmlns:a="http://schemas.openxmlformats.org/drawingml/2006/main">
              <a:ext uri="{FF2B5EF4-FFF2-40B4-BE49-F238E27FC236}">
                <a16:creationId xmlns:a16="http://schemas.microsoft.com/office/drawing/2014/main" id="{9C421FC6-3FFD-4388-A963-ACA1AA0F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07  /  方案概念</a:t>
            </a:r>
          </a:p>
        </p:txBody>
      </p:sp>
    </p:spTree>
    <p:extLst>
      <p:ext uri="{BB962C8B-B14F-4D97-AF65-F5344CB8AC3E}">
        <p14:creationId xmlns:p14="http://schemas.microsoft.com/office/powerpoint/2010/main" val="4308026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07  /  飞鹤中秋亲子游园会">
            <a:extLst xmlns:a="http://schemas.openxmlformats.org/drawingml/2006/main">
              <a:ext uri="{FF2B5EF4-FFF2-40B4-BE49-F238E27FC236}">
                <a16:creationId xmlns:a16="http://schemas.microsoft.com/office/drawing/2014/main" id="{FE152EB8-3D20-4D63-AE3C-AB14B306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08  /  飞鹤中秋亲子游园会</a:t>
            </a:r>
          </a:p>
        </p:txBody>
      </p:sp>
      <p:sp>
        <p:nvSpPr>
          <p:cNvPr id="2" name="线上种草与线下到场的完整路径">
            <a:extLst xmlns:a="http://schemas.openxmlformats.org/drawingml/2006/main">
              <a:ext uri="{FF2B5EF4-FFF2-40B4-BE49-F238E27FC236}">
                <a16:creationId xmlns:a16="http://schemas.microsoft.com/office/drawing/2014/main" id="{68FE2CF4-DBA0-421D-8DE4-88FEF601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383D42"/>
                </a:solidFill>
                <a:latin typeface="Noto Sans SC"/>
                <a:ea typeface="Noto Sans SC"/>
                <a:cs typeface="Noto Sans SC"/>
              </a:rPr>
              <a:t>线上种草与线下到场的完整路径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6BF09699-10EA-4CC2-9FDF-5A6BD1AC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628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4" name="看见">
            <a:extLst xmlns:a="http://schemas.openxmlformats.org/drawingml/2006/main">
              <a:ext uri="{FF2B5EF4-FFF2-40B4-BE49-F238E27FC236}">
                <a16:creationId xmlns:a16="http://schemas.microsoft.com/office/drawing/2014/main" id="{A32DD6C1-3F26-4AD2-B858-6F800DBD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621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看见</a:t>
            </a:r>
          </a:p>
        </p:txBody>
      </p:sp>
      <p:sp>
        <p:nvSpPr>
          <p:cNvPr id="5" name="小红书亲子图文与短视频">
            <a:extLst xmlns:a="http://schemas.openxmlformats.org/drawingml/2006/main">
              <a:ext uri="{FF2B5EF4-FFF2-40B4-BE49-F238E27FC236}">
                <a16:creationId xmlns:a16="http://schemas.microsoft.com/office/drawing/2014/main" id="{211E248D-1767-4CE0-81BF-95A4CB7A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621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rPr>
                <a:solidFill>
                  <a:srgbClr val="555B60"/>
                </a:solidFill>
                <a:latin typeface="Noto Sans SC"/>
              </a:rPr>
              <a:t>小红书品牌号与商场自有渠道</a:t>
            </a:r>
          </a:p>
        </p:txBody>
      </p:sp>
      <p:sp>
        <p:nvSpPr>
          <p:cNvPr id="6" name="发布活动主题与三幕故事；展示真实活动信息">
            <a:extLst xmlns:a="http://schemas.openxmlformats.org/drawingml/2006/main">
              <a:ext uri="{FF2B5EF4-FFF2-40B4-BE49-F238E27FC236}">
                <a16:creationId xmlns:a16="http://schemas.microsoft.com/office/drawing/2014/main" id="{581E0B1A-417D-478C-BFAF-B8E6DF3C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716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rPr>
                <a:solidFill>
                  <a:srgbClr val="555B60"/>
                </a:solidFill>
                <a:latin typeface="Noto Sans SC"/>
              </a:rPr>
              <a:t>统一发布时间、地点、场次、适龄建议与预约入口。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543BA-074A-4352-8ABD-8E4512FD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E957503C-1825-4AD0-A05D-B41CD814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628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9" name="想去">
            <a:extLst xmlns:a="http://schemas.openxmlformats.org/drawingml/2006/main">
              <a:ext uri="{FF2B5EF4-FFF2-40B4-BE49-F238E27FC236}">
                <a16:creationId xmlns:a16="http://schemas.microsoft.com/office/drawing/2014/main" id="{C93A5ECC-E4D6-4D33-A836-B6BE172D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65747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想去</a:t>
            </a:r>
          </a:p>
        </p:txBody>
      </p:sp>
      <p:sp>
        <p:nvSpPr>
          <p:cNvPr id="10" name="商场周边亲子用户触达">
            <a:extLst xmlns:a="http://schemas.openxmlformats.org/drawingml/2006/main">
              <a:ext uri="{FF2B5EF4-FFF2-40B4-BE49-F238E27FC236}">
                <a16:creationId xmlns:a16="http://schemas.microsoft.com/office/drawing/2014/main" id="{4646F921-10B1-4EFA-A20B-EFD1C27A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574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rPr>
                <a:solidFill>
                  <a:srgbClr val="555B60"/>
                </a:solidFill>
                <a:latin typeface="Noto Sans SC"/>
              </a:rPr>
              <a:t>活动页 / 预约入口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68DA8-56D7-4EA7-91DE-2563B5C1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7DCBCF7A-68C2-4266-9402-2F041D78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628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4" name="到场">
            <a:extLst xmlns:a="http://schemas.openxmlformats.org/drawingml/2006/main">
              <a:ext uri="{FF2B5EF4-FFF2-40B4-BE49-F238E27FC236}">
                <a16:creationId xmlns:a16="http://schemas.microsoft.com/office/drawing/2014/main" id="{C9C081C4-0660-4CF3-AE34-904B0914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528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到场</a:t>
            </a:r>
          </a:p>
        </p:txBody>
      </p:sp>
      <p:sp>
        <p:nvSpPr>
          <p:cNvPr id="15" name="签到领游园手册">
            <a:extLst xmlns:a="http://schemas.openxmlformats.org/drawingml/2006/main">
              <a:ext uri="{FF2B5EF4-FFF2-40B4-BE49-F238E27FC236}">
                <a16:creationId xmlns:a16="http://schemas.microsoft.com/office/drawing/2014/main" id="{76B5AA79-78AC-4AAB-8EFF-92EDBB9B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528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rPr>
                <a:solidFill>
                  <a:srgbClr val="555B60"/>
                </a:solidFill>
                <a:latin typeface="Noto Sans SC"/>
              </a:rPr>
              <a:t>预约核销与现场候补</a:t>
            </a:r>
          </a:p>
        </p:txBody>
      </p:sp>
      <p:sp>
        <p:nvSpPr>
          <p:cNvPr id="16" name="新老客自愿选择身份；领取任务卡，了解动线">
            <a:extLst xmlns:a="http://schemas.openxmlformats.org/drawingml/2006/main">
              <a:ext uri="{FF2B5EF4-FFF2-40B4-BE49-F238E27FC236}">
                <a16:creationId xmlns:a16="http://schemas.microsoft.com/office/drawing/2014/main" id="{E32AE65F-0AF8-4D05-91D3-3D1E20AB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623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rPr>
                <a:solidFill>
                  <a:srgbClr val="555B60"/>
                </a:solidFill>
                <a:latin typeface="Noto Sans SC"/>
              </a:rPr>
              <a:t>核验预约、发放游园卡；未预约家庭按剩余容量候补。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5027F-1E15-425E-AD01-91EC6D7D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04">
            <a:extLst xmlns:a="http://schemas.openxmlformats.org/drawingml/2006/main">
              <a:ext uri="{FF2B5EF4-FFF2-40B4-BE49-F238E27FC236}">
                <a16:creationId xmlns:a16="http://schemas.microsoft.com/office/drawing/2014/main" id="{1660444B-A07C-4A4A-9D9A-95545778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628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9" name="了解">
            <a:extLst xmlns:a="http://schemas.openxmlformats.org/drawingml/2006/main">
              <a:ext uri="{FF2B5EF4-FFF2-40B4-BE49-F238E27FC236}">
                <a16:creationId xmlns:a16="http://schemas.microsoft.com/office/drawing/2014/main" id="{C9A8E8E1-CA86-47C5-94EE-40C09CCB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44817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了解</a:t>
            </a:r>
          </a:p>
        </p:txBody>
      </p:sp>
      <p:sp>
        <p:nvSpPr>
          <p:cNvPr id="20" name="牧场故事和标签导览">
            <a:extLst xmlns:a="http://schemas.openxmlformats.org/drawingml/2006/main">
              <a:ext uri="{FF2B5EF4-FFF2-40B4-BE49-F238E27FC236}">
                <a16:creationId xmlns:a16="http://schemas.microsoft.com/office/drawing/2014/main" id="{3C941258-CF75-40CF-B9E4-FCF2D39F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481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牧场故事和标签导览</a:t>
            </a:r>
          </a:p>
        </p:txBody>
      </p:sp>
      <p:sp>
        <p:nvSpPr>
          <p:cNvPr id="21" name="工作人员按真实包装讲解产品，供家长自主比">
            <a:extLst xmlns:a="http://schemas.openxmlformats.org/drawingml/2006/main">
              <a:ext uri="{FF2B5EF4-FFF2-40B4-BE49-F238E27FC236}">
                <a16:creationId xmlns:a16="http://schemas.microsoft.com/office/drawing/2014/main" id="{38CA7C7B-91AC-400E-9ADE-42E152B6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rPr>
              <a:t>工作人员按真实包装讲解产品，供家长自主比较。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5BC301-A10A-474C-950B-32D2BAC4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05">
            <a:extLst xmlns:a="http://schemas.openxmlformats.org/drawingml/2006/main">
              <a:ext uri="{FF2B5EF4-FFF2-40B4-BE49-F238E27FC236}">
                <a16:creationId xmlns:a16="http://schemas.microsoft.com/office/drawing/2014/main" id="{1792DB74-6FAE-496A-8306-BE19F413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628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4" name="留下">
            <a:extLst xmlns:a="http://schemas.openxmlformats.org/drawingml/2006/main">
              <a:ext uri="{FF2B5EF4-FFF2-40B4-BE49-F238E27FC236}">
                <a16:creationId xmlns:a16="http://schemas.microsoft.com/office/drawing/2014/main" id="{A4BAC1E6-6D8E-42EC-8279-BC27CCE6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3435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留下</a:t>
            </a:r>
          </a:p>
        </p:txBody>
      </p:sp>
      <p:sp>
        <p:nvSpPr>
          <p:cNvPr id="25" name="点灯合影与节后回访">
            <a:extLst xmlns:a="http://schemas.openxmlformats.org/drawingml/2006/main">
              <a:ext uri="{FF2B5EF4-FFF2-40B4-BE49-F238E27FC236}">
                <a16:creationId xmlns:a16="http://schemas.microsoft.com/office/drawing/2014/main" id="{8DC65AA2-A50E-4435-BFCC-9BFA3818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435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点灯合影与节后回访</a:t>
            </a:r>
          </a:p>
        </p:txBody>
      </p:sp>
      <p:sp>
        <p:nvSpPr>
          <p:cNvPr id="26" name="分享自愿；同意后进入会员服务及活动反馈。">
            <a:extLst xmlns:a="http://schemas.openxmlformats.org/drawingml/2006/main">
              <a:ext uri="{FF2B5EF4-FFF2-40B4-BE49-F238E27FC236}">
                <a16:creationId xmlns:a16="http://schemas.microsoft.com/office/drawing/2014/main" id="{5674E0E7-85C5-4556-A79A-CED35729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530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rPr>
              <a:t>分享自愿；同意后进入会员服务及活动反馈。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520456-3C58-442B-897B-945BBC5F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07  /  方案概念">
            <a:extLst xmlns:a="http://schemas.openxmlformats.org/drawingml/2006/main">
              <a:ext uri="{FF2B5EF4-FFF2-40B4-BE49-F238E27FC236}">
                <a16:creationId xmlns:a16="http://schemas.microsoft.com/office/drawing/2014/main" id="{27626B00-C7E2-411C-BABC-AC722A98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08  /  方案概念</a:t>
            </a:r>
          </a:p>
        </p:txBody>
      </p:sp>
      <p:sp xmlns:a="http://schemas.openxmlformats.org/drawingml/2006/main">
        <p:nvSpPr>
          <p:cNvPr id="30" name="TextBox 29"/>
          <p:cNvSpPr txBox="1"/>
          <p:nvPr/>
        </p:nvSpPr>
        <p:spPr>
          <a:xfrm>
            <a:off x="7334250" y="2667000"/>
            <a:ext cx="409575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555B60"/>
                </a:solidFill>
                <a:latin typeface="Noto Sans SC"/>
              </a:rPr>
              <a:t>按时段预约、登记年龄段；名额以场地容量为准。</a:t>
            </a:r>
          </a:p>
        </p:txBody>
      </p:sp>
    </p:spTree>
    <p:extLst>
      <p:ext uri="{BB962C8B-B14F-4D97-AF65-F5344CB8AC3E}">
        <p14:creationId xmlns:p14="http://schemas.microsoft.com/office/powerpoint/2010/main" val="4456537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08  /  飞鹤中秋亲子游园会">
            <a:extLst xmlns:a="http://schemas.openxmlformats.org/drawingml/2006/main">
              <a:ext uri="{FF2B5EF4-FFF2-40B4-BE49-F238E27FC236}">
                <a16:creationId xmlns:a16="http://schemas.microsoft.com/office/drawing/2014/main" id="{2B21FD39-FBF9-4ADF-A2B4-73416827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09  /  飞鹤中秋亲子游园会</a:t>
            </a:r>
          </a:p>
        </p:txBody>
      </p:sp>
      <p:sp>
        <p:nvSpPr>
          <p:cNvPr id="2" name="小红书内容矩阵：每篇给一个到场理由">
            <a:extLst xmlns:a="http://schemas.openxmlformats.org/drawingml/2006/main">
              <a:ext uri="{FF2B5EF4-FFF2-40B4-BE49-F238E27FC236}">
                <a16:creationId xmlns:a16="http://schemas.microsoft.com/office/drawing/2014/main" id="{84E84243-338A-4615-9112-3ADD80FF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383D42"/>
                </a:solidFill>
                <a:latin typeface="Noto Sans SC"/>
                <a:ea typeface="Noto Sans SC"/>
                <a:cs typeface="Noto Sans SC"/>
              </a:rPr>
              <a:t>小红书内容矩阵：每篇给一个到场理由</a:t>
            </a:r>
          </a:p>
        </p:txBody>
      </p:sp>
      <p:sp>
        <p:nvSpPr>
          <p:cNvPr id="3" name="发布节点">
            <a:extLst xmlns:a="http://schemas.openxmlformats.org/drawingml/2006/main">
              <a:ext uri="{FF2B5EF4-FFF2-40B4-BE49-F238E27FC236}">
                <a16:creationId xmlns:a16="http://schemas.microsoft.com/office/drawing/2014/main" id="{B8B95302-A35E-47AC-BD7B-2358109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发布节点</a:t>
            </a:r>
          </a:p>
        </p:txBody>
      </p:sp>
      <p:sp>
        <p:nvSpPr>
          <p:cNvPr id="4" name="内容钩子">
            <a:extLst xmlns:a="http://schemas.openxmlformats.org/drawingml/2006/main">
              <a:ext uri="{FF2B5EF4-FFF2-40B4-BE49-F238E27FC236}">
                <a16:creationId xmlns:a16="http://schemas.microsoft.com/office/drawing/2014/main" id="{616B4CA9-7466-4A8B-B2D1-D174CFF7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0975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内容钩子</a:t>
            </a:r>
          </a:p>
        </p:txBody>
      </p:sp>
      <p:sp>
        <p:nvSpPr>
          <p:cNvPr id="5" name="角色">
            <a:extLst xmlns:a="http://schemas.openxmlformats.org/drawingml/2006/main">
              <a:ext uri="{FF2B5EF4-FFF2-40B4-BE49-F238E27FC236}">
                <a16:creationId xmlns:a16="http://schemas.microsoft.com/office/drawing/2014/main" id="{53AF9AE4-7F18-43C3-A691-188C95AF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09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角色</a:t>
            </a:r>
          </a:p>
        </p:txBody>
      </p:sp>
      <p:sp>
        <p:nvSpPr>
          <p:cNvPr id="6" name="行动">
            <a:extLst xmlns:a="http://schemas.openxmlformats.org/drawingml/2006/main">
              <a:ext uri="{FF2B5EF4-FFF2-40B4-BE49-F238E27FC236}">
                <a16:creationId xmlns:a16="http://schemas.microsoft.com/office/drawing/2014/main" id="{0846A67A-9E02-4C74-82D1-96B9DDA0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809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行动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582F2-F13A-4615-A936-F527E696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T−21  主题揭晓">
            <a:extLst xmlns:a="http://schemas.openxmlformats.org/drawingml/2006/main">
              <a:ext uri="{FF2B5EF4-FFF2-40B4-BE49-F238E27FC236}">
                <a16:creationId xmlns:a16="http://schemas.microsoft.com/office/drawing/2014/main" id="{06C28CAD-8603-48C3-9C24-CB72047F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T−21  主题揭晓</a:t>
            </a:r>
          </a:p>
        </p:txBody>
      </p:sp>
      <p:sp>
        <p:nvSpPr>
          <p:cNvPr id="9" name="新秋新气象：小牛带宝宝去点灯">
            <a:extLst xmlns:a="http://schemas.openxmlformats.org/drawingml/2006/main">
              <a:ext uri="{FF2B5EF4-FFF2-40B4-BE49-F238E27FC236}">
                <a16:creationId xmlns:a16="http://schemas.microsoft.com/office/drawing/2014/main" id="{342BAA2F-50DA-45A0-8DC4-68C347B9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431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新秋新气象：小牛带宝宝去点灯</a:t>
            </a:r>
          </a:p>
        </p:txBody>
      </p:sp>
      <p:sp>
        <p:nvSpPr>
          <p:cNvPr id="10" name="引起兴趣">
            <a:extLst xmlns:a="http://schemas.openxmlformats.org/drawingml/2006/main">
              <a:ext uri="{FF2B5EF4-FFF2-40B4-BE49-F238E27FC236}">
                <a16:creationId xmlns:a16="http://schemas.microsoft.com/office/drawing/2014/main" id="{0EBE0703-5BCC-4EA1-B840-419EE827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4315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rPr>
              <a:t>引起兴趣</a:t>
            </a:r>
          </a:p>
        </p:txBody>
      </p:sp>
      <p:sp>
        <p:nvSpPr>
          <p:cNvPr id="11" name="收藏活动信息">
            <a:extLst xmlns:a="http://schemas.openxmlformats.org/drawingml/2006/main">
              <a:ext uri="{FF2B5EF4-FFF2-40B4-BE49-F238E27FC236}">
                <a16:creationId xmlns:a16="http://schemas.microsoft.com/office/drawing/2014/main" id="{681C842D-F5D1-49E4-8C63-8B33CC2F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3431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收藏活动信息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8F273-2867-4F32-BBED-EC558717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T−14  亲子清单">
            <a:extLst xmlns:a="http://schemas.openxmlformats.org/drawingml/2006/main">
              <a:ext uri="{FF2B5EF4-FFF2-40B4-BE49-F238E27FC236}">
                <a16:creationId xmlns:a16="http://schemas.microsoft.com/office/drawing/2014/main" id="{748A7715-69DD-4BBD-9E52-DC7915FE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T−14  亲子清单</a:t>
            </a:r>
          </a:p>
        </p:txBody>
      </p:sp>
      <p:sp>
        <p:nvSpPr>
          <p:cNvPr id="14" name="1—3岁宝宝的中秋出门包与30分钟游园路">
            <a:extLst xmlns:a="http://schemas.openxmlformats.org/drawingml/2006/main">
              <a:ext uri="{FF2B5EF4-FFF2-40B4-BE49-F238E27FC236}">
                <a16:creationId xmlns:a16="http://schemas.microsoft.com/office/drawing/2014/main" id="{DED9BEF4-3B4D-4550-83FF-CFD90098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051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1—3岁宝宝的中秋出门包与30分钟游园路线</a:t>
            </a:r>
          </a:p>
        </p:txBody>
      </p:sp>
      <p:sp>
        <p:nvSpPr>
          <p:cNvPr id="15" name="消除出门顾虑">
            <a:extLst xmlns:a="http://schemas.openxmlformats.org/drawingml/2006/main">
              <a:ext uri="{FF2B5EF4-FFF2-40B4-BE49-F238E27FC236}">
                <a16:creationId xmlns:a16="http://schemas.microsoft.com/office/drawing/2014/main" id="{48A3B0C6-401E-428F-8E9B-839F3C3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0515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rPr>
              <a:t>消除出门顾虑</a:t>
            </a:r>
          </a:p>
        </p:txBody>
      </p:sp>
      <p:sp>
        <p:nvSpPr>
          <p:cNvPr id="16" name="查看报名须知">
            <a:extLst xmlns:a="http://schemas.openxmlformats.org/drawingml/2006/main">
              <a:ext uri="{FF2B5EF4-FFF2-40B4-BE49-F238E27FC236}">
                <a16:creationId xmlns:a16="http://schemas.microsoft.com/office/drawing/2014/main" id="{8444C55B-50C8-4B60-8D20-F5519F32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051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查看报名须知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7C92D-F3E5-4A0F-AA60-782A1B23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T−7  礼遇预告">
            <a:extLst xmlns:a="http://schemas.openxmlformats.org/drawingml/2006/main">
              <a:ext uri="{FF2B5EF4-FFF2-40B4-BE49-F238E27FC236}">
                <a16:creationId xmlns:a16="http://schemas.microsoft.com/office/drawing/2014/main" id="{798E8ABB-847A-491D-A0C1-990934D4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T−7  礼遇预告</a:t>
            </a:r>
          </a:p>
        </p:txBody>
      </p:sp>
      <p:sp>
        <p:nvSpPr>
          <p:cNvPr id="19" name="小牛月灯、儿童杯与方正月饼礼盒细节">
            <a:extLst xmlns:a="http://schemas.openxmlformats.org/drawingml/2006/main">
              <a:ext uri="{FF2B5EF4-FFF2-40B4-BE49-F238E27FC236}">
                <a16:creationId xmlns:a16="http://schemas.microsoft.com/office/drawing/2014/main" id="{1460CB80-2E49-405C-8DF0-1053D648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671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小牛月灯、儿童杯与方正月饼礼盒细节</a:t>
            </a:r>
          </a:p>
        </p:txBody>
      </p:sp>
      <p:sp>
        <p:nvSpPr>
          <p:cNvPr id="20" name="形成期待">
            <a:extLst xmlns:a="http://schemas.openxmlformats.org/drawingml/2006/main">
              <a:ext uri="{FF2B5EF4-FFF2-40B4-BE49-F238E27FC236}">
                <a16:creationId xmlns:a16="http://schemas.microsoft.com/office/drawing/2014/main" id="{0A35D20D-926C-4BFB-BD76-51C80F9A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6715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rPr>
              <a:t>形成期待</a:t>
            </a:r>
          </a:p>
        </p:txBody>
      </p:sp>
      <p:sp>
        <p:nvSpPr>
          <p:cNvPr id="21" name="预约时段">
            <a:extLst xmlns:a="http://schemas.openxmlformats.org/drawingml/2006/main">
              <a:ext uri="{FF2B5EF4-FFF2-40B4-BE49-F238E27FC236}">
                <a16:creationId xmlns:a16="http://schemas.microsoft.com/office/drawing/2014/main" id="{C8E226E3-2AE6-4D4E-A6FD-3BE7F927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8671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预约时段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62920-7A4F-464A-951B-EA9823DE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T−1 / 当天">
            <a:extLst xmlns:a="http://schemas.openxmlformats.org/drawingml/2006/main">
              <a:ext uri="{FF2B5EF4-FFF2-40B4-BE49-F238E27FC236}">
                <a16:creationId xmlns:a16="http://schemas.microsoft.com/office/drawing/2014/main" id="{DEB2C184-A4A6-40DF-ADA4-5DC5424A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T−1 / 当天</a:t>
            </a:r>
          </a:p>
        </p:txBody>
      </p:sp>
      <p:sp>
        <p:nvSpPr>
          <p:cNvPr id="24" name="中庭装置、任务动线及家长真实体验">
            <a:extLst xmlns:a="http://schemas.openxmlformats.org/drawingml/2006/main">
              <a:ext uri="{FF2B5EF4-FFF2-40B4-BE49-F238E27FC236}">
                <a16:creationId xmlns:a16="http://schemas.microsoft.com/office/drawing/2014/main" id="{E80DEDD1-6A29-4D30-AD70-2B66FC74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291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中庭装置、任务动线及家长真实体验</a:t>
            </a:r>
          </a:p>
        </p:txBody>
      </p:sp>
      <p:sp>
        <p:nvSpPr>
          <p:cNvPr id="25" name="促成到场">
            <a:extLst xmlns:a="http://schemas.openxmlformats.org/drawingml/2006/main">
              <a:ext uri="{FF2B5EF4-FFF2-40B4-BE49-F238E27FC236}">
                <a16:creationId xmlns:a16="http://schemas.microsoft.com/office/drawing/2014/main" id="{22E1BFA6-111F-4774-80A9-BB9C4D02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2915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rPr>
              <a:t>促成到场</a:t>
            </a:r>
          </a:p>
        </p:txBody>
      </p:sp>
      <p:sp>
        <p:nvSpPr>
          <p:cNvPr id="26" name="到场或站内咨询">
            <a:extLst xmlns:a="http://schemas.openxmlformats.org/drawingml/2006/main">
              <a:ext uri="{FF2B5EF4-FFF2-40B4-BE49-F238E27FC236}">
                <a16:creationId xmlns:a16="http://schemas.microsoft.com/office/drawing/2014/main" id="{865B44FC-F0FE-4120-B422-B391CBAC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6291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到场或站内咨询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211CEC-0D59-45F2-B582-E0091626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T+1—14  回顾">
            <a:extLst xmlns:a="http://schemas.openxmlformats.org/drawingml/2006/main">
              <a:ext uri="{FF2B5EF4-FFF2-40B4-BE49-F238E27FC236}">
                <a16:creationId xmlns:a16="http://schemas.microsoft.com/office/drawing/2014/main" id="{56413642-94D6-4F82-834C-DF0ECEC5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T+1—14  回顾</a:t>
            </a:r>
          </a:p>
        </p:txBody>
      </p:sp>
      <p:sp>
        <p:nvSpPr>
          <p:cNvPr id="29" name="团圆合影与小牛点灯故事">
            <a:extLst xmlns:a="http://schemas.openxmlformats.org/drawingml/2006/main">
              <a:ext uri="{FF2B5EF4-FFF2-40B4-BE49-F238E27FC236}">
                <a16:creationId xmlns:a16="http://schemas.microsoft.com/office/drawing/2014/main" id="{11C19FB6-3B24-4A17-AE21-105ADE6C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911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团圆合影与小牛点灯故事</a:t>
            </a:r>
          </a:p>
        </p:txBody>
      </p:sp>
      <p:sp>
        <p:nvSpPr>
          <p:cNvPr id="30" name="沉淀口碑">
            <a:extLst xmlns:a="http://schemas.openxmlformats.org/drawingml/2006/main">
              <a:ext uri="{FF2B5EF4-FFF2-40B4-BE49-F238E27FC236}">
                <a16:creationId xmlns:a16="http://schemas.microsoft.com/office/drawing/2014/main" id="{C52E208F-2AF6-4D9B-A3D0-C92613B9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39115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rPr>
              <a:t>沉淀口碑</a:t>
            </a:r>
          </a:p>
        </p:txBody>
      </p:sp>
      <p:sp>
        <p:nvSpPr>
          <p:cNvPr id="31" name="自愿分享与反馈">
            <a:extLst xmlns:a="http://schemas.openxmlformats.org/drawingml/2006/main">
              <a:ext uri="{FF2B5EF4-FFF2-40B4-BE49-F238E27FC236}">
                <a16:creationId xmlns:a16="http://schemas.microsoft.com/office/drawing/2014/main" id="{8ED68F6A-997F-4358-8100-F03C45B0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3911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自愿分享与反馈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512C0F-B196-45A1-9516-B6CA6E27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08  /  方案概念">
            <a:extLst xmlns:a="http://schemas.openxmlformats.org/drawingml/2006/main">
              <a:ext uri="{FF2B5EF4-FFF2-40B4-BE49-F238E27FC236}">
                <a16:creationId xmlns:a16="http://schemas.microsoft.com/office/drawing/2014/main" id="{D75C46CB-0B81-4D4B-BADC-BED98418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09  /  方案概念</a:t>
            </a:r>
          </a:p>
        </p:txBody>
      </p:sp>
    </p:spTree>
    <p:extLst>
      <p:ext uri="{BB962C8B-B14F-4D97-AF65-F5344CB8AC3E}">
        <p14:creationId xmlns:p14="http://schemas.microsoft.com/office/powerpoint/2010/main" val="12915549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09  /  飞鹤中秋亲子游园会">
            <a:extLst xmlns:a="http://schemas.openxmlformats.org/drawingml/2006/main">
              <a:ext uri="{FF2B5EF4-FFF2-40B4-BE49-F238E27FC236}">
                <a16:creationId xmlns:a16="http://schemas.microsoft.com/office/drawing/2014/main" id="{F0A2FB82-40F0-493F-A850-795EC35A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10  /  飞鹤中秋亲子游园会</a:t>
            </a:r>
          </a:p>
        </p:txBody>
      </p:sp>
      <p:sp>
        <p:nvSpPr>
          <p:cNvPr id="2" name="三张社交海报，对应三次情绪推进">
            <a:extLst xmlns:a="http://schemas.openxmlformats.org/drawingml/2006/main">
              <a:ext uri="{FF2B5EF4-FFF2-40B4-BE49-F238E27FC236}">
                <a16:creationId xmlns:a16="http://schemas.microsoft.com/office/drawing/2014/main" id="{86202FE8-EBBE-4D19-9AA8-FE0CE9A1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383D42"/>
                </a:solidFill>
                <a:latin typeface="Noto Sans SC"/>
                <a:ea typeface="Noto Sans SC"/>
                <a:cs typeface="Noto Sans SC"/>
              </a:rPr>
              <a:t>三张社交海报，对应三次情绪推进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E1E5B-0B22-4F22-970A-6FBC7BAD28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a90e9f1314411"/>
          <a:stretch xmlns:a="http://schemas.openxmlformats.org/drawingml/2006/main"/>
        </p:blipFill>
        <p:spPr>
          <a:xfrm xmlns:a="http://schemas.openxmlformats.org/drawingml/2006/main">
            <a:off x="804346" y="1771650"/>
            <a:ext cx="2896633" cy="3619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3C27A-F6CC-4BD7-8D7D-DD65F21D4F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b924ff24242cc"/>
          <a:stretch xmlns:a="http://schemas.openxmlformats.org/drawingml/2006/main"/>
        </p:blipFill>
        <p:spPr>
          <a:xfrm xmlns:a="http://schemas.openxmlformats.org/drawingml/2006/main">
            <a:off x="4642921" y="1771650"/>
            <a:ext cx="2896633" cy="3619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B5CD6-ADAC-4BB5-BFA1-CCF4FADBFA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27991757a4e8b"/>
          <a:stretch xmlns:a="http://schemas.openxmlformats.org/drawingml/2006/main"/>
        </p:blipFill>
        <p:spPr>
          <a:xfrm xmlns:a="http://schemas.openxmlformats.org/drawingml/2006/main">
            <a:off x="8481496" y="1771650"/>
            <a:ext cx="2896633" cy="3619500"/>
          </a:xfrm>
          <a:prstGeom xmlns:a="http://schemas.openxmlformats.org/drawingml/2006/main" prst="rect">
            <a:avLst/>
          </a:prstGeom>
        </p:spPr>
      </p:pic>
      <p:sp>
        <p:nvSpPr>
          <p:cNvPr id="6" name="01  秋日出游">
            <a:extLst xmlns:a="http://schemas.openxmlformats.org/drawingml/2006/main">
              <a:ext uri="{FF2B5EF4-FFF2-40B4-BE49-F238E27FC236}">
                <a16:creationId xmlns:a16="http://schemas.microsoft.com/office/drawing/2014/main" id="{8FD44015-0735-4A82-B6C1-B2373E08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01  秋日出游</a:t>
            </a:r>
          </a:p>
        </p:txBody>
      </p:sp>
      <p:sp>
        <p:nvSpPr>
          <p:cNvPr id="7" name="02  亲子共读">
            <a:extLst xmlns:a="http://schemas.openxmlformats.org/drawingml/2006/main">
              <a:ext uri="{FF2B5EF4-FFF2-40B4-BE49-F238E27FC236}">
                <a16:creationId xmlns:a16="http://schemas.microsoft.com/office/drawing/2014/main" id="{271A8E77-B67B-4262-8429-4DB1319E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5721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02  亲子共读</a:t>
            </a:r>
          </a:p>
        </p:txBody>
      </p:sp>
      <p:sp>
        <p:nvSpPr>
          <p:cNvPr id="8" name="03  点亮月夜">
            <a:extLst xmlns:a="http://schemas.openxmlformats.org/drawingml/2006/main">
              <a:ext uri="{FF2B5EF4-FFF2-40B4-BE49-F238E27FC236}">
                <a16:creationId xmlns:a16="http://schemas.microsoft.com/office/drawing/2014/main" id="{23597039-EE0C-4DBF-8E20-E85C32D2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721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03  点亮月夜</a:t>
            </a:r>
          </a:p>
        </p:txBody>
      </p:sp>
      <p:sp>
        <p:nvSpPr>
          <p:cNvPr id="9" name="把团圆抱满怀">
            <a:extLst xmlns:a="http://schemas.openxmlformats.org/drawingml/2006/main">
              <a:ext uri="{FF2B5EF4-FFF2-40B4-BE49-F238E27FC236}">
                <a16:creationId xmlns:a16="http://schemas.microsoft.com/office/drawing/2014/main" id="{2C7054DA-5C76-4DFC-8218-29013E8B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rPr>
              <a:t>把团圆抱满怀</a:t>
            </a:r>
          </a:p>
        </p:txBody>
      </p:sp>
      <p:sp>
        <p:nvSpPr>
          <p:cNvPr id="10" name="和宝宝一起把秋天过甜">
            <a:extLst xmlns:a="http://schemas.openxmlformats.org/drawingml/2006/main">
              <a:ext uri="{FF2B5EF4-FFF2-40B4-BE49-F238E27FC236}">
                <a16:creationId xmlns:a16="http://schemas.microsoft.com/office/drawing/2014/main" id="{AB8547EF-A680-4EEF-B41A-8A66461F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9245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rPr>
              <a:t>和宝宝一起把秋天过甜</a:t>
            </a:r>
          </a:p>
        </p:txBody>
      </p:sp>
      <p:sp>
        <p:nvSpPr>
          <p:cNvPr id="11" name="月亮很圆，有你更甜">
            <a:extLst xmlns:a="http://schemas.openxmlformats.org/drawingml/2006/main">
              <a:ext uri="{FF2B5EF4-FFF2-40B4-BE49-F238E27FC236}">
                <a16:creationId xmlns:a16="http://schemas.microsoft.com/office/drawing/2014/main" id="{29F9C557-1032-437A-AA18-CF0DF5ED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245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rPr>
              <a:t>月亮很圆，有你更甜</a:t>
            </a:r>
          </a:p>
        </p:txBody>
      </p:sp>
      <p:sp>
        <p:nvSpPr>
          <p:cNvPr id="12" name="09  /  方案概念">
            <a:extLst xmlns:a="http://schemas.openxmlformats.org/drawingml/2006/main">
              <a:ext uri="{FF2B5EF4-FFF2-40B4-BE49-F238E27FC236}">
                <a16:creationId xmlns:a16="http://schemas.microsoft.com/office/drawing/2014/main" id="{D0EE1276-A014-421C-868D-2ECEB54D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10  /  方案概念</a:t>
            </a:r>
          </a:p>
        </p:txBody>
      </p:sp>
    </p:spTree>
    <p:extLst>
      <p:ext uri="{BB962C8B-B14F-4D97-AF65-F5344CB8AC3E}">
        <p14:creationId xmlns:p14="http://schemas.microsoft.com/office/powerpoint/2010/main" val="20998946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10  /  飞鹤中秋亲子游园会">
            <a:extLst xmlns:a="http://schemas.openxmlformats.org/drawingml/2006/main">
              <a:ext uri="{FF2B5EF4-FFF2-40B4-BE49-F238E27FC236}">
                <a16:creationId xmlns:a16="http://schemas.microsoft.com/office/drawing/2014/main" id="{112EC52B-1B14-4C87-8E84-E65A4959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11  /  飞鹤中秋亲子游园会</a:t>
            </a:r>
          </a:p>
        </p:txBody>
      </p:sp>
      <p:sp>
        <p:nvSpPr>
          <p:cNvPr id="2" name="小红书传播：内容、报名与回流">
            <a:extLst xmlns:a="http://schemas.openxmlformats.org/drawingml/2006/main">
              <a:ext uri="{FF2B5EF4-FFF2-40B4-BE49-F238E27FC236}">
                <a16:creationId xmlns:a16="http://schemas.microsoft.com/office/drawing/2014/main" id="{FE6C3ECD-EFE9-4BA1-AAAD-3A185324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383D42"/>
                </a:solidFill>
                <a:latin typeface="Noto Sans SC"/>
                <a:ea typeface="Noto Sans SC"/>
                <a:cs typeface="Noto Sans SC"/>
              </a:rPr>
              <a:t>小红书传播：内容、报名与回流</a:t>
            </a:r>
          </a:p>
        </p:txBody>
      </p:sp>
      <p:sp>
        <p:nvSpPr>
          <p:cNvPr id="3" name="品牌号负责确定性">
            <a:extLst xmlns:a="http://schemas.openxmlformats.org/drawingml/2006/main">
              <a:ext uri="{FF2B5EF4-FFF2-40B4-BE49-F238E27FC236}">
                <a16:creationId xmlns:a16="http://schemas.microsoft.com/office/drawing/2014/main" id="{5338486A-F940-47FA-837B-37A012E9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05000"/>
            <a:ext cx="490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品牌号负责确定性</a:t>
            </a:r>
          </a:p>
        </p:txBody>
      </p:sp>
      <p:sp>
        <p:nvSpPr>
          <p:cNvPr id="4" name="活动信息、报名须知、现场地图、产品标签核">
            <a:extLst xmlns:a="http://schemas.openxmlformats.org/drawingml/2006/main">
              <a:ext uri="{FF2B5EF4-FFF2-40B4-BE49-F238E27FC236}">
                <a16:creationId xmlns:a16="http://schemas.microsoft.com/office/drawing/2014/main" id="{44AE1376-1DB6-4265-9F3D-8A4C4AA5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活动信息、报名须知、现场地图、产品标签核对说明。每篇只保留一个清晰行动入口。</a:t>
            </a:r>
          </a:p>
        </p:txBody>
      </p:sp>
      <p:sp>
        <p:nvSpPr>
          <p:cNvPr id="5" name="亲子创作者负责真实感">
            <a:extLst xmlns:a="http://schemas.openxmlformats.org/drawingml/2006/main">
              <a:ext uri="{FF2B5EF4-FFF2-40B4-BE49-F238E27FC236}">
                <a16:creationId xmlns:a16="http://schemas.microsoft.com/office/drawing/2014/main" id="{F70B52BC-7FAF-4DC9-A4AE-78666ECA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05000"/>
            <a:ext cx="490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亲子创作者负责真实感</a:t>
            </a:r>
          </a:p>
        </p:txBody>
      </p:sp>
      <p:sp>
        <p:nvSpPr>
          <p:cNvPr id="6" name="从“推车是否方便”“宝宝会不会愿意玩”出">
            <a:extLst xmlns:a="http://schemas.openxmlformats.org/drawingml/2006/main">
              <a:ext uri="{FF2B5EF4-FFF2-40B4-BE49-F238E27FC236}">
                <a16:creationId xmlns:a16="http://schemas.microsoft.com/office/drawing/2014/main" id="{77E61065-8A08-4DED-8D00-6F232A90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从“推车是否方便”“宝宝会不会愿意玩”出发，展示走完整条动线所需的真实时间与体验。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6769A-A8E3-4DEB-B8D5-D783FBF7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执行原则">
            <a:extLst xmlns:a="http://schemas.openxmlformats.org/drawingml/2006/main">
              <a:ext uri="{FF2B5EF4-FFF2-40B4-BE49-F238E27FC236}">
                <a16:creationId xmlns:a16="http://schemas.microsoft.com/office/drawing/2014/main" id="{84935C86-3D98-4A72-A362-8AB5FFDC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76775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执行原则</a:t>
            </a:r>
          </a:p>
        </p:txBody>
      </p:sp>
      <p:sp>
        <p:nvSpPr>
          <p:cNvPr id="9" name="明确商业合作标识；报名和留资使用平台支持">
            <a:extLst xmlns:a="http://schemas.openxmlformats.org/drawingml/2006/main">
              <a:ext uri="{FF2B5EF4-FFF2-40B4-BE49-F238E27FC236}">
                <a16:creationId xmlns:a16="http://schemas.microsoft.com/office/drawing/2014/main" id="{1AFC3FCC-7911-4F84-A68B-1ECF7EF8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648200"/>
            <a:ext cx="88011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明确商业合作标识；报名和留资使用平台支持的合规工具；不以晒娃或发帖作为基础礼品领取条件。</a:t>
            </a:r>
          </a:p>
        </p:txBody>
      </p:sp>
      <p:sp>
        <p:nvSpPr>
          <p:cNvPr id="10" name="10  /  方案概念">
            <a:extLst xmlns:a="http://schemas.openxmlformats.org/drawingml/2006/main">
              <a:ext uri="{FF2B5EF4-FFF2-40B4-BE49-F238E27FC236}">
                <a16:creationId xmlns:a16="http://schemas.microsoft.com/office/drawing/2014/main" id="{40DEFF21-D14E-46F2-9BE8-8351F56A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11  /  方案概念</a:t>
            </a:r>
          </a:p>
        </p:txBody>
      </p:sp>
    </p:spTree>
    <p:extLst>
      <p:ext uri="{BB962C8B-B14F-4D97-AF65-F5344CB8AC3E}">
        <p14:creationId xmlns:p14="http://schemas.microsoft.com/office/powerpoint/2010/main" val="1303859448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14F88"/>
                </a:solidFill>
                <a:latin typeface="Noto Sans SC"/>
              </a:rPr>
              <a:t>ONLINE × ONSITE / 参与闭环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50" b="1">
                <a:solidFill>
                  <a:srgbClr val="383D42"/>
                </a:solidFill>
                <a:latin typeface="Noto Sans SC"/>
              </a:rPr>
              <a:t>从收藏活动，到点亮月灯，再回到自愿回访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5898C"/>
                </a:solidFill>
                <a:latin typeface="Noto Sans SC"/>
              </a:rPr>
              <a:t>线上解决“想不想去、怎么去”，线下完成亲子体验，节后承接只在家长同意后发生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72A31"/>
                </a:solidFill>
                <a:latin typeface="Noto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33472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383D42"/>
                </a:solidFill>
                <a:latin typeface="Noto Sans SC"/>
              </a:rPr>
              <a:t>看见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" y="3182112"/>
            <a:ext cx="1874520" cy="0"/>
          </a:xfrm>
          <a:prstGeom prst="line">
            <a:avLst/>
          </a:prstGeom>
          <a:ln w="20320">
            <a:solidFill>
              <a:srgbClr val="C9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3383280"/>
            <a:ext cx="19019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5B60"/>
                </a:solidFill>
                <a:latin typeface="Noto Sans SC"/>
              </a:rPr>
              <a:t>主题笔记
短视频 / 商场社群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434840"/>
            <a:ext cx="19019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14F88"/>
                </a:solidFill>
                <a:latin typeface="Noto Sans SC"/>
              </a:rPr>
              <a:t>收藏活动信息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2587752"/>
            <a:ext cx="320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C99A42"/>
                </a:solidFill>
                <a:latin typeface="Noto Sans SC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212848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72A31"/>
                </a:solidFill>
                <a:latin typeface="Noto Sans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33472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383D42"/>
                </a:solidFill>
                <a:latin typeface="Noto Sans SC"/>
              </a:rPr>
              <a:t>预约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71800" y="3182112"/>
            <a:ext cx="1874520" cy="0"/>
          </a:xfrm>
          <a:prstGeom prst="line">
            <a:avLst/>
          </a:prstGeom>
          <a:ln w="20320">
            <a:solidFill>
              <a:srgbClr val="C9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71800" y="3383280"/>
            <a:ext cx="19019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5B60"/>
                </a:solidFill>
                <a:latin typeface="Noto Sans SC"/>
              </a:rPr>
              <a:t>统一活动页
时段 / 年龄 / 须知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4434840"/>
            <a:ext cx="19019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14F88"/>
                </a:solidFill>
                <a:latin typeface="Noto Sans SC"/>
              </a:rPr>
              <a:t>预约确认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587752"/>
            <a:ext cx="320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C99A42"/>
                </a:solidFill>
                <a:latin typeface="Noto Sans SC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212848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72A31"/>
                </a:solidFill>
                <a:latin typeface="Noto Sans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633472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383D42"/>
                </a:solidFill>
                <a:latin typeface="Noto Sans SC"/>
              </a:rPr>
              <a:t>到场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30368" y="3182112"/>
            <a:ext cx="1874520" cy="0"/>
          </a:xfrm>
          <a:prstGeom prst="line">
            <a:avLst/>
          </a:prstGeom>
          <a:ln w="20320">
            <a:solidFill>
              <a:srgbClr val="C9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30368" y="3383280"/>
            <a:ext cx="19019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5B60"/>
                </a:solidFill>
                <a:latin typeface="Noto Sans SC"/>
              </a:rPr>
              <a:t>预约核销
游园卡 / 动线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4434840"/>
            <a:ext cx="19019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14F88"/>
                </a:solidFill>
                <a:latin typeface="Noto Sans SC"/>
              </a:rPr>
              <a:t>签到与到场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2587752"/>
            <a:ext cx="320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C99A42"/>
                </a:solidFill>
                <a:latin typeface="Noto Sans SC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2212848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72A31"/>
                </a:solidFill>
                <a:latin typeface="Noto Sans S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8936" y="2633472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383D42"/>
                </a:solidFill>
                <a:latin typeface="Noto Sans SC"/>
              </a:rPr>
              <a:t>点亮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88936" y="3182112"/>
            <a:ext cx="1874519" cy="0"/>
          </a:xfrm>
          <a:prstGeom prst="line">
            <a:avLst/>
          </a:prstGeom>
          <a:ln w="20320">
            <a:solidFill>
              <a:srgbClr val="C9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88936" y="3383280"/>
            <a:ext cx="19019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5B60"/>
                </a:solidFill>
                <a:latin typeface="Noto Sans SC"/>
              </a:rPr>
              <a:t>四站任务
触碰月灯 / 合影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4434840"/>
            <a:ext cx="19019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14F88"/>
                </a:solidFill>
                <a:latin typeface="Noto Sans SC"/>
              </a:rPr>
              <a:t>完成与反馈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5" y="2587752"/>
            <a:ext cx="320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C99A42"/>
                </a:solidFill>
                <a:latin typeface="Noto Sans SC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2212848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72A31"/>
                </a:solidFill>
                <a:latin typeface="Noto Sans SC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7504" y="2633472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383D42"/>
                </a:solidFill>
                <a:latin typeface="Noto Sans SC"/>
              </a:rPr>
              <a:t>回访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47504" y="3182112"/>
            <a:ext cx="1874520" cy="0"/>
          </a:xfrm>
          <a:prstGeom prst="line">
            <a:avLst/>
          </a:prstGeom>
          <a:ln w="20320">
            <a:solidFill>
              <a:srgbClr val="C9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747504" y="3383280"/>
            <a:ext cx="19019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5B60"/>
                </a:solidFill>
                <a:latin typeface="Noto Sans SC"/>
              </a:rPr>
              <a:t>活动回顾
照片自取 / 满意度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47504" y="4434840"/>
            <a:ext cx="19019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14F88"/>
                </a:solidFill>
                <a:latin typeface="Noto Sans SC"/>
              </a:rPr>
              <a:t>授权后触达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3232" y="5157216"/>
            <a:ext cx="10762488" cy="0"/>
          </a:xfrm>
          <a:prstGeom prst="line">
            <a:avLst/>
          </a:prstGeom>
          <a:ln w="10160">
            <a:solidFill>
              <a:srgbClr val="E5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13232" y="5330952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72A31"/>
                </a:solidFill>
                <a:latin typeface="Noto Sans SC"/>
              </a:rPr>
              <a:t>统一口径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21408" y="5285232"/>
            <a:ext cx="9189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5B60"/>
                </a:solidFill>
                <a:latin typeface="Noto Sans SC"/>
              </a:rPr>
              <a:t>以预约家庭数、实际签到数、任务完成数、有效咨询数和自愿授权数复盘；不把发帖、晒娃或留资设为领礼条件。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0080" y="6327648"/>
            <a:ext cx="10899648" cy="0"/>
          </a:xfrm>
          <a:prstGeom prst="line">
            <a:avLst/>
          </a:prstGeom>
          <a:ln w="10160">
            <a:solidFill>
              <a:srgbClr val="E5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0080" y="6428232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5898C"/>
                </a:solidFill>
                <a:latin typeface="Noto Sans SC"/>
              </a:rPr>
              <a:t>线上线下闭环  /  报名入口以品牌与商场实际可用平台为准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11  /  飞鹤中秋亲子游园会">
            <a:extLst xmlns:a="http://schemas.openxmlformats.org/drawingml/2006/main">
              <a:ext uri="{FF2B5EF4-FFF2-40B4-BE49-F238E27FC236}">
                <a16:creationId xmlns:a16="http://schemas.microsoft.com/office/drawing/2014/main" id="{839288BC-1459-4C71-ABF9-5A5A17BA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13  /  飞鹤中秋亲子游园会</a:t>
            </a:r>
          </a:p>
        </p:txBody>
      </p:sp>
      <p:sp>
        <p:nvSpPr>
          <p:cNvPr id="2" name="主装置：一起点亮中秋月">
            <a:extLst xmlns:a="http://schemas.openxmlformats.org/drawingml/2006/main">
              <a:ext uri="{FF2B5EF4-FFF2-40B4-BE49-F238E27FC236}">
                <a16:creationId xmlns:a16="http://schemas.microsoft.com/office/drawing/2014/main" id="{89B38B47-A85D-4B87-B087-000DE274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383D42"/>
                </a:solidFill>
                <a:latin typeface="Noto Sans SC"/>
                <a:ea typeface="Noto Sans SC"/>
                <a:cs typeface="Noto Sans SC"/>
              </a:rPr>
              <a:t>主装置：一起点亮中秋月</a:t>
            </a:r>
          </a:p>
        </p:txBody>
      </p:sp>
      <p:sp>
        <p:nvSpPr>
          <p:cNvPr id="4" name="小牛提灯">
            <a:extLst xmlns:a="http://schemas.openxmlformats.org/drawingml/2006/main">
              <a:ext uri="{FF2B5EF4-FFF2-40B4-BE49-F238E27FC236}">
                <a16:creationId xmlns:a16="http://schemas.microsoft.com/office/drawing/2014/main" id="{2D477651-3B87-47F9-B029-24320C34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9547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小牛提灯</a:t>
            </a:r>
          </a:p>
        </p:txBody>
      </p:sp>
      <p:sp>
        <p:nvSpPr>
          <p:cNvPr id="5" name="作为中庭识别点，远处就能看见。">
            <a:extLst xmlns:a="http://schemas.openxmlformats.org/drawingml/2006/main">
              <a:ext uri="{FF2B5EF4-FFF2-40B4-BE49-F238E27FC236}">
                <a16:creationId xmlns:a16="http://schemas.microsoft.com/office/drawing/2014/main" id="{721FFFAC-4595-4D4A-934D-6325DC6E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71725"/>
            <a:ext cx="2762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作为中庭识别点，远处就能看见。</a:t>
            </a:r>
          </a:p>
        </p:txBody>
      </p:sp>
      <p:sp>
        <p:nvSpPr>
          <p:cNvPr id="6" name="亲子共点">
            <a:extLst xmlns:a="http://schemas.openxmlformats.org/drawingml/2006/main">
              <a:ext uri="{FF2B5EF4-FFF2-40B4-BE49-F238E27FC236}">
                <a16:creationId xmlns:a16="http://schemas.microsoft.com/office/drawing/2014/main" id="{0F7D9501-025B-4E22-B851-2147E3F7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0995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0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0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0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0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0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0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0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0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0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亲子共点</a:t>
            </a:r>
          </a:p>
        </p:txBody>
      </p:sp>
      <p:sp>
        <p:nvSpPr>
          <p:cNvPr id="7" name="家长陪宝宝触碰低位灯台，月轮柔光亮起，合">
            <a:extLst xmlns:a="http://schemas.openxmlformats.org/drawingml/2006/main">
              <a:ext uri="{FF2B5EF4-FFF2-40B4-BE49-F238E27FC236}">
                <a16:creationId xmlns:a16="http://schemas.microsoft.com/office/drawing/2014/main" id="{E09E9B08-39F9-4E9A-ABE7-1BF24223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05250"/>
            <a:ext cx="28860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rPr>
                <a:solidFill>
                  <a:srgbClr val="555B60"/>
                </a:solidFill>
                <a:latin typeface="Noto Sans SC"/>
              </a:rPr>
              <a:t>宝宝触碰低位封闭灯体，灯组依次亮起并联动月轮；家长陪同完成合影。</a:t>
            </a:r>
          </a:p>
        </p:txBody>
      </p:sp>
      <p:sp>
        <p:nvSpPr>
          <p:cNvPr id="8" name="空间效果概念图">
            <a:extLst xmlns:a="http://schemas.openxmlformats.org/drawingml/2006/main">
              <a:ext uri="{FF2B5EF4-FFF2-40B4-BE49-F238E27FC236}">
                <a16:creationId xmlns:a16="http://schemas.microsoft.com/office/drawing/2014/main" id="{F63A99BD-4D02-4B17-810F-50CC2AEE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673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2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2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2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2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2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2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2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2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2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rPr>
              <a:t>空间效果概念图</a:t>
            </a:r>
          </a:p>
        </p:txBody>
      </p:sp>
      <p:sp>
        <p:nvSpPr>
          <p:cNvPr id="9" name="11  /  方案概念">
            <a:extLst xmlns:a="http://schemas.openxmlformats.org/drawingml/2006/main">
              <a:ext uri="{FF2B5EF4-FFF2-40B4-BE49-F238E27FC236}">
                <a16:creationId xmlns:a16="http://schemas.microsoft.com/office/drawing/2014/main" id="{C1C80F56-16D6-4852-9E1C-8AB80695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13  /  方案概念</a:t>
            </a:r>
          </a:p>
        </p:txBody>
      </p:sp>
      <p:pic xmlns:a="http://schemas.openxmlformats.org/drawingml/2006/main" xmlns:r="http://schemas.openxmlformats.org/officeDocument/2006/relationships">
        <p:nvPicPr>
          <p:cNvPr id="11" name="Picture 10" descr="scene-tou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704975"/>
            <a:ext cx="74485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470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12  /  飞鹤中秋亲子游园会">
            <a:extLst xmlns:a="http://schemas.openxmlformats.org/drawingml/2006/main">
              <a:ext uri="{FF2B5EF4-FFF2-40B4-BE49-F238E27FC236}">
                <a16:creationId xmlns:a16="http://schemas.microsoft.com/office/drawing/2014/main" id="{77FF3399-3A88-4AA2-8109-74DF6651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14  /  飞鹤中秋亲子游园会</a:t>
            </a:r>
          </a:p>
        </p:txBody>
      </p:sp>
      <p:sp>
        <p:nvSpPr>
          <p:cNvPr id="2" name="现场体验：四站完成一段团圆故事">
            <a:extLst xmlns:a="http://schemas.openxmlformats.org/drawingml/2006/main">
              <a:ext uri="{FF2B5EF4-FFF2-40B4-BE49-F238E27FC236}">
                <a16:creationId xmlns:a16="http://schemas.microsoft.com/office/drawing/2014/main" id="{090BFC35-B706-4913-8579-ED487C07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rPr b="1" sz="2450">
                <a:solidFill>
                  <a:srgbClr val="383D42"/>
                </a:solidFill>
                <a:latin typeface="Noto Sans SC"/>
              </a:rPr>
              <a:t>四站游园动线：24分钟体验 + 6分钟机动</a:t>
            </a:r>
          </a:p>
        </p:txBody>
      </p:sp>
      <p:sp>
        <p:nvSpPr>
          <p:cNvPr id="3" name="01  秋日签到">
            <a:extLst xmlns:a="http://schemas.openxmlformats.org/drawingml/2006/main">
              <a:ext uri="{FF2B5EF4-FFF2-40B4-BE49-F238E27FC236}">
                <a16:creationId xmlns:a16="http://schemas.microsoft.com/office/drawing/2014/main" id="{0D3FB548-638B-44DA-A8DD-B1E48DD4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01  秋日签到</a:t>
            </a:r>
          </a:p>
        </p:txBody>
      </p:sp>
      <p:sp>
        <p:nvSpPr>
          <p:cNvPr id="4" name="领取小牛游园手册，家长选择任务路线。约3">
            <a:extLst xmlns:a="http://schemas.openxmlformats.org/drawingml/2006/main">
              <a:ext uri="{FF2B5EF4-FFF2-40B4-BE49-F238E27FC236}">
                <a16:creationId xmlns:a16="http://schemas.microsoft.com/office/drawing/2014/main" id="{940031A7-F7AB-4BED-859B-23141671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6619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领取小牛游园手册，家长选择任务路线。约3分钟。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08A4F-60E2-4857-8CB3-EC362845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02  牧场与产品">
            <a:extLst xmlns:a="http://schemas.openxmlformats.org/drawingml/2006/main">
              <a:ext uri="{FF2B5EF4-FFF2-40B4-BE49-F238E27FC236}">
                <a16:creationId xmlns:a16="http://schemas.microsoft.com/office/drawing/2014/main" id="{64DF8D11-FDD4-4DDE-865E-F557FA75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02  牧场与产品</a:t>
            </a:r>
          </a:p>
        </p:txBody>
      </p:sp>
      <p:sp>
        <p:nvSpPr>
          <p:cNvPr id="7" name="看牧场影像，再到产品台读包装标签。约8分">
            <a:extLst xmlns:a="http://schemas.openxmlformats.org/drawingml/2006/main">
              <a:ext uri="{FF2B5EF4-FFF2-40B4-BE49-F238E27FC236}">
                <a16:creationId xmlns:a16="http://schemas.microsoft.com/office/drawing/2014/main" id="{73CCD12B-9A67-44D6-8DAC-19258276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6619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rPr>
                <a:solidFill>
                  <a:srgbClr val="555B60"/>
                </a:solidFill>
                <a:latin typeface="Noto Sans SC"/>
              </a:rPr>
              <a:t>看牧场影像、读罐身标签，家长自主了解。约6分钟。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EBE87-DD7D-43C0-ACB3-9A824437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03  点灯工坊">
            <a:extLst xmlns:a="http://schemas.openxmlformats.org/drawingml/2006/main">
              <a:ext uri="{FF2B5EF4-FFF2-40B4-BE49-F238E27FC236}">
                <a16:creationId xmlns:a16="http://schemas.microsoft.com/office/drawing/2014/main" id="{380E5973-C48A-4C8C-910B-E9EC1EEC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03  点灯工坊</a:t>
            </a:r>
          </a:p>
        </p:txBody>
      </p:sp>
      <p:sp>
        <p:nvSpPr>
          <p:cNvPr id="10" name="宝宝选大尺寸月亮贴，家长完成组装，使用封">
            <a:extLst xmlns:a="http://schemas.openxmlformats.org/drawingml/2006/main">
              <a:ext uri="{FF2B5EF4-FFF2-40B4-BE49-F238E27FC236}">
                <a16:creationId xmlns:a16="http://schemas.microsoft.com/office/drawing/2014/main" id="{A8F4A2A8-917B-429E-B55A-81635D6F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62400"/>
            <a:ext cx="6619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rPr>
                <a:solidFill>
                  <a:srgbClr val="555B60"/>
                </a:solidFill>
                <a:latin typeface="Noto Sans SC"/>
              </a:rPr>
              <a:t>亲子选祝福图案；孩子触碰低位封闭灯体，触发灯组联动。约10分钟。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47861-0A41-4C8A-A41F-D5EEA3EC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04  团圆留影">
            <a:extLst xmlns:a="http://schemas.openxmlformats.org/drawingml/2006/main">
              <a:ext uri="{FF2B5EF4-FFF2-40B4-BE49-F238E27FC236}">
                <a16:creationId xmlns:a16="http://schemas.microsoft.com/office/drawing/2014/main" id="{C6FD396F-1596-4E73-8A4E-3C0AF281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04  团圆留影</a:t>
            </a:r>
          </a:p>
        </p:txBody>
      </p:sp>
      <p:sp>
        <p:nvSpPr>
          <p:cNvPr id="13" name="在主月轮与小牛合影，盖章领取活动礼。约5">
            <a:extLst xmlns:a="http://schemas.openxmlformats.org/drawingml/2006/main">
              <a:ext uri="{FF2B5EF4-FFF2-40B4-BE49-F238E27FC236}">
                <a16:creationId xmlns:a16="http://schemas.microsoft.com/office/drawing/2014/main" id="{C53BD0E2-84FF-4B80-B071-911BC0CB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29200"/>
            <a:ext cx="6619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7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rPr>
                <a:solidFill>
                  <a:srgbClr val="555B60"/>
                </a:solidFill>
                <a:latin typeface="Noto Sans SC"/>
              </a:rPr>
              <a:t>在月轮与小牛装置前合影、盖章并领取对应礼遇。约5分钟。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D7114-A852-42D2-945E-71703B81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12  /  方案概念">
            <a:extLst xmlns:a="http://schemas.openxmlformats.org/drawingml/2006/main">
              <a:ext uri="{FF2B5EF4-FFF2-40B4-BE49-F238E27FC236}">
                <a16:creationId xmlns:a16="http://schemas.microsoft.com/office/drawing/2014/main" id="{12749540-2BA2-434C-B636-5FCEF556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14  /  方案概念</a:t>
            </a:r>
          </a:p>
        </p:txBody>
      </p:sp>
    </p:spTree>
    <p:extLst>
      <p:ext uri="{BB962C8B-B14F-4D97-AF65-F5344CB8AC3E}">
        <p14:creationId xmlns:p14="http://schemas.microsoft.com/office/powerpoint/2010/main" val="1497752569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14F88"/>
                </a:solidFill>
                <a:latin typeface="Noto Sans SC"/>
              </a:rPr>
              <a:t>TOUCH &amp; GLOW / 核心体验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383D42"/>
                </a:solidFill>
                <a:latin typeface="Noto Sans SC"/>
              </a:rPr>
              <a:t>点灯仪式：孩子触碰，月光回应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5898C"/>
                </a:solidFill>
                <a:latin typeface="Noto Sans SC"/>
              </a:rPr>
              <a:t>单组约60秒完成仪式；纳入点灯工坊的10分钟体验时段，留出亲子选择与轮候时间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502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14F88"/>
                </a:solidFill>
                <a:latin typeface="Noto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01952"/>
            <a:ext cx="2011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83D42"/>
                </a:solidFill>
                <a:latin typeface="Noto Sans SC"/>
              </a:rPr>
              <a:t>选一枚月亮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4992" y="1901952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99A42"/>
                </a:solidFill>
                <a:latin typeface="Noto Sans SC"/>
              </a:rPr>
              <a:t>10秒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901952"/>
            <a:ext cx="6812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5B60"/>
                </a:solidFill>
                <a:latin typeface="Noto Sans SC"/>
              </a:rPr>
              <a:t>孩子从大尺寸祝福图案中挑选，家长协助固定在愿望墙。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3232" y="2505456"/>
            <a:ext cx="10762488" cy="0"/>
          </a:xfrm>
          <a:prstGeom prst="line">
            <a:avLst/>
          </a:prstGeom>
          <a:ln w="10160">
            <a:solidFill>
              <a:srgbClr val="E5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3232" y="2660904"/>
            <a:ext cx="502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14F88"/>
                </a:solidFill>
                <a:latin typeface="Noto Sans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60904"/>
            <a:ext cx="2011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83D42"/>
                </a:solidFill>
                <a:latin typeface="Noto Sans SC"/>
              </a:rPr>
              <a:t>站到触点前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2660904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99A42"/>
                </a:solidFill>
                <a:latin typeface="Noto Sans SC"/>
              </a:rPr>
              <a:t>10秒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660904"/>
            <a:ext cx="6812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5B60"/>
                </a:solidFill>
                <a:latin typeface="Noto Sans SC"/>
              </a:rPr>
              <a:t>引导员提示家长陪同，孩子触碰圆角、封闭式的低位灯面。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3264408"/>
            <a:ext cx="10762488" cy="0"/>
          </a:xfrm>
          <a:prstGeom prst="line">
            <a:avLst/>
          </a:prstGeom>
          <a:ln w="10160">
            <a:solidFill>
              <a:srgbClr val="E5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3419856"/>
            <a:ext cx="502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72A31"/>
                </a:solidFill>
                <a:latin typeface="Noto Sans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19856"/>
            <a:ext cx="2011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83D42"/>
                </a:solidFill>
                <a:latin typeface="Noto Sans SC"/>
              </a:rPr>
              <a:t>灯光被点亮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3419856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99A42"/>
                </a:solidFill>
                <a:latin typeface="Noto Sans SC"/>
              </a:rPr>
              <a:t>10秒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419856"/>
            <a:ext cx="6812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5B60"/>
                </a:solidFill>
                <a:latin typeface="Noto Sans SC"/>
              </a:rPr>
              <a:t>触碰信号触发灯组渐亮，月轮柔光随后联动；亮灯后保留约3秒。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2" y="4023360"/>
            <a:ext cx="10762488" cy="0"/>
          </a:xfrm>
          <a:prstGeom prst="line">
            <a:avLst/>
          </a:prstGeom>
          <a:ln w="10160">
            <a:solidFill>
              <a:srgbClr val="E5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2" y="4178808"/>
            <a:ext cx="502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14F88"/>
                </a:solidFill>
                <a:latin typeface="Noto Sans S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178808"/>
            <a:ext cx="2011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83D42"/>
                </a:solidFill>
                <a:latin typeface="Noto Sans SC"/>
              </a:rPr>
              <a:t>留下团圆合影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4178808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99A42"/>
                </a:solidFill>
                <a:latin typeface="Noto Sans SC"/>
              </a:rPr>
              <a:t>25秒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178808"/>
            <a:ext cx="6812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5B60"/>
                </a:solidFill>
                <a:latin typeface="Noto Sans SC"/>
              </a:rPr>
              <a:t>引导员提示拍摄位置；家长使用自己的设备，现场不默认拍摄儿童。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232" y="4782312"/>
            <a:ext cx="10762488" cy="0"/>
          </a:xfrm>
          <a:prstGeom prst="line">
            <a:avLst/>
          </a:prstGeom>
          <a:ln w="10160">
            <a:solidFill>
              <a:srgbClr val="E5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2" y="4937760"/>
            <a:ext cx="502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14F88"/>
                </a:solidFill>
                <a:latin typeface="Noto Sans SC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937760"/>
            <a:ext cx="2011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83D42"/>
                </a:solidFill>
                <a:latin typeface="Noto Sans SC"/>
              </a:rPr>
              <a:t>盖章继续游园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4992" y="4937760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99A42"/>
                </a:solidFill>
                <a:latin typeface="Noto Sans SC"/>
              </a:rPr>
              <a:t>5秒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937760"/>
            <a:ext cx="6812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5B60"/>
                </a:solidFill>
                <a:latin typeface="Noto Sans SC"/>
              </a:rPr>
              <a:t>在游园卡盖章并前往礼遇区；分享与后续联系均由家长自愿选择。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3232" y="5541264"/>
            <a:ext cx="10762488" cy="0"/>
          </a:xfrm>
          <a:prstGeom prst="line">
            <a:avLst/>
          </a:prstGeom>
          <a:ln w="10160">
            <a:solidFill>
              <a:srgbClr val="E5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3232" y="5897880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85898C"/>
                </a:solidFill>
                <a:latin typeface="Noto Sans SC"/>
              </a:rPr>
              <a:t>装置原则：低压封闭灯体、无外露电池与线材、圆角防滑底座；感应失灵时由工作人员使用隐藏控制键接续。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6327648"/>
            <a:ext cx="10899648" cy="0"/>
          </a:xfrm>
          <a:prstGeom prst="line">
            <a:avLst/>
          </a:prstGeom>
          <a:ln w="10160">
            <a:solidFill>
              <a:srgbClr val="E5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6428232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5898C"/>
                </a:solidFill>
                <a:latin typeface="Noto Sans SC"/>
              </a:rPr>
              <a:t>点灯仪式流程  /  最终高度、承重、线路与用电标准须结合场地与制作打样确认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13  /  飞鹤中秋亲子游园会">
            <a:extLst xmlns:a="http://schemas.openxmlformats.org/drawingml/2006/main">
              <a:ext uri="{FF2B5EF4-FFF2-40B4-BE49-F238E27FC236}">
                <a16:creationId xmlns:a16="http://schemas.microsoft.com/office/drawing/2014/main" id="{2E9D8AC9-E7D6-4CB6-B322-27B02413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16  /  飞鹤中秋亲子游园会</a:t>
            </a:r>
          </a:p>
        </p:txBody>
      </p:sp>
      <p:sp>
        <p:nvSpPr>
          <p:cNvPr id="2" name="产品了解：把选择权交还给家长">
            <a:extLst xmlns:a="http://schemas.openxmlformats.org/drawingml/2006/main">
              <a:ext uri="{FF2B5EF4-FFF2-40B4-BE49-F238E27FC236}">
                <a16:creationId xmlns:a16="http://schemas.microsoft.com/office/drawing/2014/main" id="{694735DC-64F4-4365-8326-52B4D832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383D42"/>
                </a:solidFill>
                <a:latin typeface="Noto Sans SC"/>
                <a:ea typeface="Noto Sans SC"/>
                <a:cs typeface="Noto Sans SC"/>
              </a:rPr>
              <a:t>产品了解：把选择权交还给家长</a:t>
            </a:r>
          </a:p>
        </p:txBody>
      </p:sp>
      <p:sp>
        <p:nvSpPr>
          <p:cNvPr id="3" name="看得见的内容">
            <a:extLst xmlns:a="http://schemas.openxmlformats.org/drawingml/2006/main">
              <a:ext uri="{FF2B5EF4-FFF2-40B4-BE49-F238E27FC236}">
                <a16:creationId xmlns:a16="http://schemas.microsoft.com/office/drawing/2014/main" id="{03A71C5F-F9BC-440A-9BCA-D37D5788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看得见的内容</a:t>
            </a:r>
          </a:p>
        </p:txBody>
      </p:sp>
      <p:sp>
        <p:nvSpPr>
          <p:cNvPr id="4" name="三款产品并列呈现，工作人员引导家长查看产">
            <a:extLst xmlns:a="http://schemas.openxmlformats.org/drawingml/2006/main">
              <a:ext uri="{FF2B5EF4-FFF2-40B4-BE49-F238E27FC236}">
                <a16:creationId xmlns:a16="http://schemas.microsoft.com/office/drawing/2014/main" id="{6DD169F3-C00D-4671-AF83-F56F237C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50006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三款产品并列呈现，工作人员引导家长查看产品全称、适用年龄、配料表、营养成分表、冲调与储存说明。</a:t>
            </a:r>
          </a:p>
        </p:txBody>
      </p:sp>
      <p:sp>
        <p:nvSpPr>
          <p:cNvPr id="5" name="可带走的帮助">
            <a:extLst xmlns:a="http://schemas.openxmlformats.org/drawingml/2006/main">
              <a:ext uri="{FF2B5EF4-FFF2-40B4-BE49-F238E27FC236}">
                <a16:creationId xmlns:a16="http://schemas.microsoft.com/office/drawing/2014/main" id="{044BB107-ADFA-4C5A-AD34-007B72DA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可带走的帮助</a:t>
            </a:r>
          </a:p>
        </p:txBody>
      </p:sp>
      <p:sp>
        <p:nvSpPr>
          <p:cNvPr id="6" name="一张“读懂罐身”小卡；如需进一步咨询，由">
            <a:extLst xmlns:a="http://schemas.openxmlformats.org/drawingml/2006/main">
              <a:ext uri="{FF2B5EF4-FFF2-40B4-BE49-F238E27FC236}">
                <a16:creationId xmlns:a16="http://schemas.microsoft.com/office/drawing/2014/main" id="{2028E8C6-193A-4975-BD68-F169DA35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4953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一张“读懂罐身”小卡；如需进一步咨询，由家长自主选择是否留下联系方式。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4C862-D19C-4903-A30F-3B15F5EFA2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5750920bb43e8"/>
          <a:srcRect xmlns:a="http://schemas.openxmlformats.org/drawingml/2006/main" l="0" t="12160" r="0" b="121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24625" y="1752600"/>
            <a:ext cx="4381500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13  /  方案概念">
            <a:extLst xmlns:a="http://schemas.openxmlformats.org/drawingml/2006/main">
              <a:ext uri="{FF2B5EF4-FFF2-40B4-BE49-F238E27FC236}">
                <a16:creationId xmlns:a16="http://schemas.microsoft.com/office/drawing/2014/main" id="{DE08B79A-091E-49C0-A098-DE3249F7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16  /  方案概念</a:t>
            </a:r>
          </a:p>
        </p:txBody>
      </p:sp>
    </p:spTree>
    <p:extLst>
      <p:ext uri="{BB962C8B-B14F-4D97-AF65-F5344CB8AC3E}">
        <p14:creationId xmlns:p14="http://schemas.microsoft.com/office/powerpoint/2010/main" val="19357505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14  /  飞鹤中秋亲子游园会">
            <a:extLst xmlns:a="http://schemas.openxmlformats.org/drawingml/2006/main">
              <a:ext uri="{FF2B5EF4-FFF2-40B4-BE49-F238E27FC236}">
                <a16:creationId xmlns:a16="http://schemas.microsoft.com/office/drawing/2014/main" id="{77C1C5A2-32DD-47DC-A7A8-DCB6A2B4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17  /  飞鹤中秋亲子游园会</a:t>
            </a:r>
          </a:p>
        </p:txBody>
      </p:sp>
      <p:sp>
        <p:nvSpPr>
          <p:cNvPr id="2" name="团圆礼遇：实用小物延续活动记忆">
            <a:extLst xmlns:a="http://schemas.openxmlformats.org/drawingml/2006/main">
              <a:ext uri="{FF2B5EF4-FFF2-40B4-BE49-F238E27FC236}">
                <a16:creationId xmlns:a16="http://schemas.microsoft.com/office/drawing/2014/main" id="{FB48484A-7DD8-494C-8CDB-3575B92F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383D42"/>
                </a:solidFill>
                <a:latin typeface="Noto Sans SC"/>
                <a:ea typeface="Noto Sans SC"/>
                <a:cs typeface="Noto Sans SC"/>
              </a:rPr>
              <a:t>团圆礼遇：实用小物延续活动记忆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8A05C-021B-42B1-B0F6-F875E10E45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c5657df78458c"/>
          <a:srcRect xmlns:a="http://schemas.openxmlformats.org/drawingml/2006/main" l="0" t="3367" r="0" b="33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" y="1762125"/>
            <a:ext cx="7000875" cy="4352925"/>
          </a:xfrm>
          <a:prstGeom xmlns:a="http://schemas.openxmlformats.org/drawingml/2006/main" prst="rect">
            <a:avLst/>
          </a:prstGeom>
        </p:spPr>
      </p:pic>
      <p:sp>
        <p:nvSpPr>
          <p:cNvPr id="4" name="到场礼">
            <a:extLst xmlns:a="http://schemas.openxmlformats.org/drawingml/2006/main">
              <a:ext uri="{FF2B5EF4-FFF2-40B4-BE49-F238E27FC236}">
                <a16:creationId xmlns:a16="http://schemas.microsoft.com/office/drawing/2014/main" id="{F532FAED-9FE2-436D-B261-3EA74AA5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9526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到场礼</a:t>
            </a:r>
          </a:p>
        </p:txBody>
      </p:sp>
      <p:sp>
        <p:nvSpPr>
          <p:cNvPr id="5" name="游园手册与小牛贴纸，签到即可领取。">
            <a:extLst xmlns:a="http://schemas.openxmlformats.org/drawingml/2006/main">
              <a:ext uri="{FF2B5EF4-FFF2-40B4-BE49-F238E27FC236}">
                <a16:creationId xmlns:a16="http://schemas.microsoft.com/office/drawing/2014/main" id="{AA3C34FD-673F-465E-9BF8-4B87D928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390775"/>
            <a:ext cx="314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游园手册与小牛贴纸，签到即可领取。</a:t>
            </a:r>
          </a:p>
        </p:txBody>
      </p:sp>
      <p:sp>
        <p:nvSpPr>
          <p:cNvPr id="6" name="任务礼">
            <a:extLst xmlns:a="http://schemas.openxmlformats.org/drawingml/2006/main">
              <a:ext uri="{FF2B5EF4-FFF2-40B4-BE49-F238E27FC236}">
                <a16:creationId xmlns:a16="http://schemas.microsoft.com/office/drawing/2014/main" id="{837F59E1-DB48-40E8-8DB9-99D1B194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2480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任务礼</a:t>
            </a:r>
          </a:p>
        </p:txBody>
      </p:sp>
      <p:sp>
        <p:nvSpPr>
          <p:cNvPr id="7" name="亲子点灯与盖章后，兑换儿童杯、围兜或纱布">
            <a:extLst xmlns:a="http://schemas.openxmlformats.org/drawingml/2006/main">
              <a:ext uri="{FF2B5EF4-FFF2-40B4-BE49-F238E27FC236}">
                <a16:creationId xmlns:a16="http://schemas.microsoft.com/office/drawing/2014/main" id="{056AC9F5-10B6-4130-BC96-E32F9DA4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86175"/>
            <a:ext cx="32480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亲子点灯与盖章后，兑换儿童杯、围兜或纱布巾，具体以库存规则为准。</a:t>
            </a:r>
          </a:p>
        </p:txBody>
      </p:sp>
      <p:sp>
        <p:nvSpPr>
          <p:cNvPr id="8" name="团圆礼盒">
            <a:extLst xmlns:a="http://schemas.openxmlformats.org/drawingml/2006/main">
              <a:ext uri="{FF2B5EF4-FFF2-40B4-BE49-F238E27FC236}">
                <a16:creationId xmlns:a16="http://schemas.microsoft.com/office/drawing/2014/main" id="{6BBC919E-8914-4C25-A2B4-F29F15C5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672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A84639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75" b="1">
                <a:solidFill>
                  <a:srgbClr val="A84639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75" b="1">
                <a:solidFill>
                  <a:srgbClr val="A84639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75" b="1">
                <a:solidFill>
                  <a:srgbClr val="A84639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75" b="1">
                <a:solidFill>
                  <a:srgbClr val="A84639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75" b="1">
                <a:solidFill>
                  <a:srgbClr val="A84639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75" b="1">
                <a:solidFill>
                  <a:srgbClr val="A84639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75" b="1">
                <a:solidFill>
                  <a:srgbClr val="A84639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75" b="1">
                <a:solidFill>
                  <a:srgbClr val="A84639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75" b="1">
                <a:solidFill>
                  <a:srgbClr val="A8463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A84639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A84639"/>
                </a:solidFill>
                <a:latin typeface="Noto Sans SC"/>
                <a:ea typeface="Noto Sans SC"/>
                <a:cs typeface="Noto Sans SC"/>
              </a:rPr>
              <a:t>团圆礼盒</a:t>
            </a:r>
          </a:p>
        </p:txBody>
      </p:sp>
      <p:sp>
        <p:nvSpPr>
          <p:cNvPr id="9" name="方形月饼礼盒与小牛玩偶用于老客礼遇或活动">
            <a:extLst xmlns:a="http://schemas.openxmlformats.org/drawingml/2006/main">
              <a:ext uri="{FF2B5EF4-FFF2-40B4-BE49-F238E27FC236}">
                <a16:creationId xmlns:a16="http://schemas.microsoft.com/office/drawing/2014/main" id="{70D165ED-7A5B-43CA-A672-D6CF31E2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05425"/>
            <a:ext cx="31337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方形月饼礼盒与小牛玩偶用于老客礼遇或活动抽选。</a:t>
            </a:r>
          </a:p>
        </p:txBody>
      </p:sp>
      <p:sp>
        <p:nvSpPr>
          <p:cNvPr id="10" name="14  /  方案概念">
            <a:extLst xmlns:a="http://schemas.openxmlformats.org/drawingml/2006/main">
              <a:ext uri="{FF2B5EF4-FFF2-40B4-BE49-F238E27FC236}">
                <a16:creationId xmlns:a16="http://schemas.microsoft.com/office/drawing/2014/main" id="{B78D329B-087C-40BE-9F34-C59EC780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17  /  方案概念</a:t>
            </a:r>
          </a:p>
        </p:txBody>
      </p:sp>
    </p:spTree>
    <p:extLst>
      <p:ext uri="{BB962C8B-B14F-4D97-AF65-F5344CB8AC3E}">
        <p14:creationId xmlns:p14="http://schemas.microsoft.com/office/powerpoint/2010/main" val="7435689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15  /  飞鹤中秋亲子游园会">
            <a:extLst xmlns:a="http://schemas.openxmlformats.org/drawingml/2006/main">
              <a:ext uri="{FF2B5EF4-FFF2-40B4-BE49-F238E27FC236}">
                <a16:creationId xmlns:a16="http://schemas.microsoft.com/office/drawing/2014/main" id="{D1EBE412-CB57-4FEF-9A7A-431BD436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18  /  飞鹤中秋亲子游园会</a:t>
            </a:r>
          </a:p>
        </p:txBody>
      </p:sp>
      <p:sp>
        <p:nvSpPr>
          <p:cNvPr id="2" name="新客与老客，走不同的后续路径">
            <a:extLst xmlns:a="http://schemas.openxmlformats.org/drawingml/2006/main">
              <a:ext uri="{FF2B5EF4-FFF2-40B4-BE49-F238E27FC236}">
                <a16:creationId xmlns:a16="http://schemas.microsoft.com/office/drawing/2014/main" id="{A26A45DC-D704-4D16-991C-A4CFB48B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383D42"/>
                </a:solidFill>
                <a:latin typeface="Noto Sans SC"/>
                <a:ea typeface="Noto Sans SC"/>
                <a:cs typeface="Noto Sans SC"/>
              </a:rPr>
              <a:t>新客与老客，走不同的后续路径</a:t>
            </a:r>
          </a:p>
        </p:txBody>
      </p:sp>
      <p:sp>
        <p:nvSpPr>
          <p:cNvPr id="3" name="首次接触家庭">
            <a:extLst xmlns:a="http://schemas.openxmlformats.org/drawingml/2006/main">
              <a:ext uri="{FF2B5EF4-FFF2-40B4-BE49-F238E27FC236}">
                <a16:creationId xmlns:a16="http://schemas.microsoft.com/office/drawing/2014/main" id="{6DBF4548-5A1D-49DC-A2D3-1004AE86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4572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首次接触家庭</a:t>
            </a:r>
          </a:p>
        </p:txBody>
      </p:sp>
      <p:sp>
        <p:nvSpPr>
          <p:cNvPr id="4" name="预约/到场 → 自愿听产品说明 → 领取">
            <a:extLst xmlns:a="http://schemas.openxmlformats.org/drawingml/2006/main">
              <a:ext uri="{FF2B5EF4-FFF2-40B4-BE49-F238E27FC236}">
                <a16:creationId xmlns:a16="http://schemas.microsoft.com/office/drawing/2014/main" id="{FCDBD589-30C2-49E3-82E9-AEC6D8F6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81275"/>
            <a:ext cx="45148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预约/到场 → 自愿听产品说明 → 领取标签导览卡 → 同意后接收一次活动回顾和咨询入口。</a:t>
            </a:r>
          </a:p>
        </p:txBody>
      </p:sp>
      <p:sp>
        <p:nvSpPr>
          <p:cNvPr id="5" name="已有会员家庭">
            <a:extLst xmlns:a="http://schemas.openxmlformats.org/drawingml/2006/main">
              <a:ext uri="{FF2B5EF4-FFF2-40B4-BE49-F238E27FC236}">
                <a16:creationId xmlns:a16="http://schemas.microsoft.com/office/drawing/2014/main" id="{DEBFCE2F-916D-4DB6-B64F-A9EBB449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14525"/>
            <a:ext cx="46386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已有会员家庭</a:t>
            </a:r>
          </a:p>
        </p:txBody>
      </p:sp>
      <p:sp>
        <p:nvSpPr>
          <p:cNvPr id="6" name="识别会员权益 → 记录参与的亲子任务 →">
            <a:extLst xmlns:a="http://schemas.openxmlformats.org/drawingml/2006/main">
              <a:ext uri="{FF2B5EF4-FFF2-40B4-BE49-F238E27FC236}">
                <a16:creationId xmlns:a16="http://schemas.microsoft.com/office/drawing/2014/main" id="{BAE5B9CB-FD2D-42DC-B016-02016E6F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81275"/>
            <a:ext cx="4667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识别会员权益 → 记录参与的亲子任务 → 领取对应团圆礼遇 → 节后推送合影及满意度反馈。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25303-2241-4706-889E-9243AD65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最少必要的信息：报名时段、宝宝年龄段、会">
            <a:extLst xmlns:a="http://schemas.openxmlformats.org/drawingml/2006/main">
              <a:ext uri="{FF2B5EF4-FFF2-40B4-BE49-F238E27FC236}">
                <a16:creationId xmlns:a16="http://schemas.microsoft.com/office/drawing/2014/main" id="{5F61FECE-D780-4A68-9188-A95D0666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054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rPr>
              <a:t>最少必要的信息：报名时段、宝宝年龄段、会员状态、明确授权的联系渠道。</a:t>
            </a:r>
          </a:p>
        </p:txBody>
      </p:sp>
      <p:sp>
        <p:nvSpPr>
          <p:cNvPr id="9" name="15  /  方案概念">
            <a:extLst xmlns:a="http://schemas.openxmlformats.org/drawingml/2006/main">
              <a:ext uri="{FF2B5EF4-FFF2-40B4-BE49-F238E27FC236}">
                <a16:creationId xmlns:a16="http://schemas.microsoft.com/office/drawing/2014/main" id="{BCF2875E-2A4D-485C-B677-EA444392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18  /  方案概念</a:t>
            </a:r>
          </a:p>
        </p:txBody>
      </p:sp>
    </p:spTree>
    <p:extLst>
      <p:ext uri="{BB962C8B-B14F-4D97-AF65-F5344CB8AC3E}">
        <p14:creationId xmlns:p14="http://schemas.microsoft.com/office/powerpoint/2010/main" val="12383296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16  /  飞鹤中秋亲子游园会">
            <a:extLst xmlns:a="http://schemas.openxmlformats.org/drawingml/2006/main">
              <a:ext uri="{FF2B5EF4-FFF2-40B4-BE49-F238E27FC236}">
                <a16:creationId xmlns:a16="http://schemas.microsoft.com/office/drawing/2014/main" id="{7A9E0EE6-1ACE-4439-B78F-4C929DDF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19  /  飞鹤中秋亲子游园会</a:t>
            </a:r>
          </a:p>
        </p:txBody>
      </p:sp>
      <p:sp>
        <p:nvSpPr>
          <p:cNvPr id="2" name="传播节奏与物料交付">
            <a:extLst xmlns:a="http://schemas.openxmlformats.org/drawingml/2006/main">
              <a:ext uri="{FF2B5EF4-FFF2-40B4-BE49-F238E27FC236}">
                <a16:creationId xmlns:a16="http://schemas.microsoft.com/office/drawing/2014/main" id="{1EF45972-4598-4653-A7FA-B43B13B0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383D42"/>
                </a:solidFill>
                <a:latin typeface="Noto Sans SC"/>
                <a:ea typeface="Noto Sans SC"/>
                <a:cs typeface="Noto Sans SC"/>
              </a:rPr>
              <a:t>传播节奏与物料交付</a:t>
            </a:r>
          </a:p>
        </p:txBody>
      </p:sp>
      <p:sp>
        <p:nvSpPr>
          <p:cNvPr id="3" name="T−21 至 T−15">
            <a:extLst xmlns:a="http://schemas.openxmlformats.org/drawingml/2006/main">
              <a:ext uri="{FF2B5EF4-FFF2-40B4-BE49-F238E27FC236}">
                <a16:creationId xmlns:a16="http://schemas.microsoft.com/office/drawing/2014/main" id="{19FDE566-04B5-45B3-B21F-32A296F2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09750"/>
            <a:ext cx="2171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T−21 至 T−15</a:t>
            </a:r>
          </a:p>
        </p:txBody>
      </p:sp>
      <p:sp>
        <p:nvSpPr>
          <p:cNvPr id="4" name="主题亮相">
            <a:extLst xmlns:a="http://schemas.openxmlformats.org/drawingml/2006/main">
              <a:ext uri="{FF2B5EF4-FFF2-40B4-BE49-F238E27FC236}">
                <a16:creationId xmlns:a16="http://schemas.microsoft.com/office/drawing/2014/main" id="{13E00D3A-FF68-4E00-9D25-67A824E0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2381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主题亮相</a:t>
            </a:r>
          </a:p>
        </p:txBody>
      </p:sp>
      <p:sp>
        <p:nvSpPr>
          <p:cNvPr id="5" name="主KV、IP动作与品牌号首发；开放活动信">
            <a:extLst xmlns:a="http://schemas.openxmlformats.org/drawingml/2006/main">
              <a:ext uri="{FF2B5EF4-FFF2-40B4-BE49-F238E27FC236}">
                <a16:creationId xmlns:a16="http://schemas.microsoft.com/office/drawing/2014/main" id="{5A2A18A5-EBC6-4441-8CA7-34E32A79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09750"/>
            <a:ext cx="588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主KV、IP动作与品牌号首发；开放活动信息页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00B54-B256-4789-A2D0-FC16DA28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T−14 至 T−8">
            <a:extLst xmlns:a="http://schemas.openxmlformats.org/drawingml/2006/main">
              <a:ext uri="{FF2B5EF4-FFF2-40B4-BE49-F238E27FC236}">
                <a16:creationId xmlns:a16="http://schemas.microsoft.com/office/drawing/2014/main" id="{7EE163AC-30E8-4B6A-BEFD-548F8E5B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86050"/>
            <a:ext cx="2171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T−14 至 T−8</a:t>
            </a:r>
          </a:p>
        </p:txBody>
      </p:sp>
      <p:sp>
        <p:nvSpPr>
          <p:cNvPr id="8" name="家庭规划">
            <a:extLst xmlns:a="http://schemas.openxmlformats.org/drawingml/2006/main">
              <a:ext uri="{FF2B5EF4-FFF2-40B4-BE49-F238E27FC236}">
                <a16:creationId xmlns:a16="http://schemas.microsoft.com/office/drawing/2014/main" id="{AFB7050F-C829-486A-82AE-EED08A54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2381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家庭规划</a:t>
            </a:r>
          </a:p>
        </p:txBody>
      </p:sp>
      <p:sp>
        <p:nvSpPr>
          <p:cNvPr id="9" name="秋日出游帖、路线说明、创作者预约体验">
            <a:extLst xmlns:a="http://schemas.openxmlformats.org/drawingml/2006/main">
              <a:ext uri="{FF2B5EF4-FFF2-40B4-BE49-F238E27FC236}">
                <a16:creationId xmlns:a16="http://schemas.microsoft.com/office/drawing/2014/main" id="{F2030349-739E-4A0B-8D0B-C53A971A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86050"/>
            <a:ext cx="588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秋日出游帖、路线说明、创作者预约体验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27965-7592-4A21-92E0-EC3AD494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T−7 至 T−1">
            <a:extLst xmlns:a="http://schemas.openxmlformats.org/drawingml/2006/main">
              <a:ext uri="{FF2B5EF4-FFF2-40B4-BE49-F238E27FC236}">
                <a16:creationId xmlns:a16="http://schemas.microsoft.com/office/drawing/2014/main" id="{9B5308E6-8A0F-454E-A877-F8EFA662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62350"/>
            <a:ext cx="2171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T−7 至 T−1</a:t>
            </a:r>
          </a:p>
        </p:txBody>
      </p:sp>
      <p:sp>
        <p:nvSpPr>
          <p:cNvPr id="12" name="礼品与场景预告">
            <a:extLst xmlns:a="http://schemas.openxmlformats.org/drawingml/2006/main">
              <a:ext uri="{FF2B5EF4-FFF2-40B4-BE49-F238E27FC236}">
                <a16:creationId xmlns:a16="http://schemas.microsoft.com/office/drawing/2014/main" id="{4C04BEA6-EC71-45A9-8693-74F94E7C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2381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礼品与场景预告</a:t>
            </a:r>
          </a:p>
        </p:txBody>
      </p:sp>
      <p:sp>
        <p:nvSpPr>
          <p:cNvPr id="13" name="三张social海报轮播、礼盒特写、商场">
            <a:extLst xmlns:a="http://schemas.openxmlformats.org/drawingml/2006/main">
              <a:ext uri="{FF2B5EF4-FFF2-40B4-BE49-F238E27FC236}">
                <a16:creationId xmlns:a16="http://schemas.microsoft.com/office/drawing/2014/main" id="{9BEAFBC8-ED26-4D75-83D1-6771CA7D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62350"/>
            <a:ext cx="588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三张social海报轮播、礼盒特写、商场导视上线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D8A17-70F0-4E15-A8F2-A7CE4374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T 至 T+2">
            <a:extLst xmlns:a="http://schemas.openxmlformats.org/drawingml/2006/main">
              <a:ext uri="{FF2B5EF4-FFF2-40B4-BE49-F238E27FC236}">
                <a16:creationId xmlns:a16="http://schemas.microsoft.com/office/drawing/2014/main" id="{15F6B2CD-64EF-4662-83AB-354E1C47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38650"/>
            <a:ext cx="2171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T 至 T+2</a:t>
            </a:r>
          </a:p>
        </p:txBody>
      </p:sp>
      <p:sp>
        <p:nvSpPr>
          <p:cNvPr id="16" name="现场传播">
            <a:extLst xmlns:a="http://schemas.openxmlformats.org/drawingml/2006/main">
              <a:ext uri="{FF2B5EF4-FFF2-40B4-BE49-F238E27FC236}">
                <a16:creationId xmlns:a16="http://schemas.microsoft.com/office/drawing/2014/main" id="{4BB6374B-064A-4BC6-9BD8-4C3BBA79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38650"/>
            <a:ext cx="2381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现场传播</a:t>
            </a:r>
          </a:p>
        </p:txBody>
      </p:sp>
      <p:sp>
        <p:nvSpPr>
          <p:cNvPr id="17" name="中庭短视频、当天时段提醒、用户自愿分享">
            <a:extLst xmlns:a="http://schemas.openxmlformats.org/drawingml/2006/main">
              <a:ext uri="{FF2B5EF4-FFF2-40B4-BE49-F238E27FC236}">
                <a16:creationId xmlns:a16="http://schemas.microsoft.com/office/drawing/2014/main" id="{12580217-2323-4F18-8CCA-2B6CED24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38650"/>
            <a:ext cx="588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中庭短视频、当天时段提醒、用户自愿分享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4FC910-ED45-4E4B-A30D-7FD6515E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T+3 至 T+14">
            <a:extLst xmlns:a="http://schemas.openxmlformats.org/drawingml/2006/main">
              <a:ext uri="{FF2B5EF4-FFF2-40B4-BE49-F238E27FC236}">
                <a16:creationId xmlns:a16="http://schemas.microsoft.com/office/drawing/2014/main" id="{62866385-7215-4C4C-B0AE-D253731B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14950"/>
            <a:ext cx="2171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T+3 至 T+14</a:t>
            </a:r>
          </a:p>
        </p:txBody>
      </p:sp>
      <p:sp>
        <p:nvSpPr>
          <p:cNvPr id="20" name="回访复盘">
            <a:extLst xmlns:a="http://schemas.openxmlformats.org/drawingml/2006/main">
              <a:ext uri="{FF2B5EF4-FFF2-40B4-BE49-F238E27FC236}">
                <a16:creationId xmlns:a16="http://schemas.microsoft.com/office/drawing/2014/main" id="{5EF5809A-3906-4FC5-95CF-C205A8DC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14950"/>
            <a:ext cx="2381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回访复盘</a:t>
            </a:r>
          </a:p>
        </p:txBody>
      </p:sp>
      <p:sp>
        <p:nvSpPr>
          <p:cNvPr id="21" name="老客礼遇回收、活动相册、反馈与转化复盘">
            <a:extLst xmlns:a="http://schemas.openxmlformats.org/drawingml/2006/main">
              <a:ext uri="{FF2B5EF4-FFF2-40B4-BE49-F238E27FC236}">
                <a16:creationId xmlns:a16="http://schemas.microsoft.com/office/drawing/2014/main" id="{CDBD723D-B69C-43F5-8428-8BCD1804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314950"/>
            <a:ext cx="588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老客礼遇回收、活动相册、反馈与转化复盘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36CFDA-D6E6-4ED6-9941-917ACD4C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16  /  方案概念">
            <a:extLst xmlns:a="http://schemas.openxmlformats.org/drawingml/2006/main">
              <a:ext uri="{FF2B5EF4-FFF2-40B4-BE49-F238E27FC236}">
                <a16:creationId xmlns:a16="http://schemas.microsoft.com/office/drawing/2014/main" id="{AD62CB37-7322-4646-B361-A94B1268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19  /  方案概念</a:t>
            </a:r>
          </a:p>
        </p:txBody>
      </p:sp>
    </p:spTree>
    <p:extLst>
      <p:ext uri="{BB962C8B-B14F-4D97-AF65-F5344CB8AC3E}">
        <p14:creationId xmlns:p14="http://schemas.microsoft.com/office/powerpoint/2010/main" val="19085596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17  /  飞鹤中秋亲子游园会">
            <a:extLst xmlns:a="http://schemas.openxmlformats.org/drawingml/2006/main">
              <a:ext uri="{FF2B5EF4-FFF2-40B4-BE49-F238E27FC236}">
                <a16:creationId xmlns:a16="http://schemas.microsoft.com/office/drawing/2014/main" id="{DD8AA53A-DA3E-4943-8FB7-381D64F7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20  /  飞鹤中秋亲子游园会</a:t>
            </a:r>
          </a:p>
        </p:txBody>
      </p:sp>
      <p:sp>
        <p:nvSpPr>
          <p:cNvPr id="2" name="衡量方法：从曝光到有效关系">
            <a:extLst xmlns:a="http://schemas.openxmlformats.org/drawingml/2006/main">
              <a:ext uri="{FF2B5EF4-FFF2-40B4-BE49-F238E27FC236}">
                <a16:creationId xmlns:a16="http://schemas.microsoft.com/office/drawing/2014/main" id="{B12706DE-3538-4D7B-810D-183D8819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383D42"/>
                </a:solidFill>
                <a:latin typeface="Noto Sans SC"/>
                <a:ea typeface="Noto Sans SC"/>
                <a:cs typeface="Noto Sans SC"/>
              </a:rPr>
              <a:t>衡量方法：从曝光到有效关系</a:t>
            </a:r>
          </a:p>
        </p:txBody>
      </p:sp>
      <p:sp>
        <p:nvSpPr>
          <p:cNvPr id="3" name="兴趣">
            <a:extLst xmlns:a="http://schemas.openxmlformats.org/drawingml/2006/main">
              <a:ext uri="{FF2B5EF4-FFF2-40B4-BE49-F238E27FC236}">
                <a16:creationId xmlns:a16="http://schemas.microsoft.com/office/drawing/2014/main" id="{1D066A1E-0D57-4E8C-9BC9-BD436AAB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兴趣</a:t>
            </a:r>
          </a:p>
        </p:txBody>
      </p:sp>
      <p:sp>
        <p:nvSpPr>
          <p:cNvPr id="5" name="区分自然流量与付费投放">
            <a:extLst xmlns:a="http://schemas.openxmlformats.org/drawingml/2006/main">
              <a:ext uri="{FF2B5EF4-FFF2-40B4-BE49-F238E27FC236}">
                <a16:creationId xmlns:a16="http://schemas.microsoft.com/office/drawing/2014/main" id="{44CBECA0-1C41-4766-A9A9-CE9A8BC2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43100"/>
            <a:ext cx="31718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rPr>
              <a:t>区分自然流量与付费投放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0047E-CE72-439D-BF01-9F540489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到场">
            <a:extLst xmlns:a="http://schemas.openxmlformats.org/drawingml/2006/main">
              <a:ext uri="{FF2B5EF4-FFF2-40B4-BE49-F238E27FC236}">
                <a16:creationId xmlns:a16="http://schemas.microsoft.com/office/drawing/2014/main" id="{6B774D7B-A7B3-4022-9D7C-68D10876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到场</a:t>
            </a:r>
          </a:p>
        </p:txBody>
      </p:sp>
      <p:sp>
        <p:nvSpPr>
          <p:cNvPr id="8" name="预约量、签到家庭数、预约到场率">
            <a:extLst xmlns:a="http://schemas.openxmlformats.org/drawingml/2006/main">
              <a:ext uri="{FF2B5EF4-FFF2-40B4-BE49-F238E27FC236}">
                <a16:creationId xmlns:a16="http://schemas.microsoft.com/office/drawing/2014/main" id="{52A20FB3-2A13-478A-BF1D-C8481C46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943225"/>
            <a:ext cx="520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预约量、签到家庭数、预约到场率</a:t>
            </a:r>
          </a:p>
        </p:txBody>
      </p:sp>
      <p:sp>
        <p:nvSpPr>
          <p:cNvPr id="9" name="按时段与渠道识别引流效率">
            <a:extLst xmlns:a="http://schemas.openxmlformats.org/drawingml/2006/main">
              <a:ext uri="{FF2B5EF4-FFF2-40B4-BE49-F238E27FC236}">
                <a16:creationId xmlns:a16="http://schemas.microsoft.com/office/drawing/2014/main" id="{AEDD4EF9-2588-4F26-9C92-E837103C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43225"/>
            <a:ext cx="31718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rPr>
              <a:t>按时段与渠道识别引流效率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41E06-1C9E-4B0B-98AF-01B1E81C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了解">
            <a:extLst xmlns:a="http://schemas.openxmlformats.org/drawingml/2006/main">
              <a:ext uri="{FF2B5EF4-FFF2-40B4-BE49-F238E27FC236}">
                <a16:creationId xmlns:a16="http://schemas.microsoft.com/office/drawing/2014/main" id="{33D11947-739C-4473-A23B-B2BA6B59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了解</a:t>
            </a:r>
          </a:p>
        </p:txBody>
      </p:sp>
      <p:sp>
        <p:nvSpPr>
          <p:cNvPr id="13" name="避免把简单打卡当作产品理解">
            <a:extLst xmlns:a="http://schemas.openxmlformats.org/drawingml/2006/main">
              <a:ext uri="{FF2B5EF4-FFF2-40B4-BE49-F238E27FC236}">
                <a16:creationId xmlns:a16="http://schemas.microsoft.com/office/drawing/2014/main" id="{2061E10D-298A-4235-8D96-48AAB51D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43350"/>
            <a:ext cx="31718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rPr>
              <a:t>避免把简单打卡当作产品理解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5969A-E9E5-4518-91CE-6B9B01CC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留存">
            <a:extLst xmlns:a="http://schemas.openxmlformats.org/drawingml/2006/main">
              <a:ext uri="{FF2B5EF4-FFF2-40B4-BE49-F238E27FC236}">
                <a16:creationId xmlns:a16="http://schemas.microsoft.com/office/drawing/2014/main" id="{87EB89C4-00D1-406A-A847-AE3036D2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34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留存</a:t>
            </a:r>
          </a:p>
        </p:txBody>
      </p:sp>
      <p:sp>
        <p:nvSpPr>
          <p:cNvPr id="17" name="新老客分别观察后续关系">
            <a:extLst xmlns:a="http://schemas.openxmlformats.org/drawingml/2006/main">
              <a:ext uri="{FF2B5EF4-FFF2-40B4-BE49-F238E27FC236}">
                <a16:creationId xmlns:a16="http://schemas.microsoft.com/office/drawing/2014/main" id="{095074CF-6284-4ACA-8C8E-E1DA99A2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43475"/>
            <a:ext cx="31718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686B70"/>
                </a:solidFill>
                <a:latin typeface="Noto Sans SC"/>
                <a:ea typeface="Noto Sans SC"/>
                <a:cs typeface="Noto Sans SC"/>
              </a:rPr>
              <a:t>新老客分别观察后续关系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C91EBD-7CB7-4A54-B6E7-C6AE9FC4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17  /  方案概念">
            <a:extLst xmlns:a="http://schemas.openxmlformats.org/drawingml/2006/main">
              <a:ext uri="{FF2B5EF4-FFF2-40B4-BE49-F238E27FC236}">
                <a16:creationId xmlns:a16="http://schemas.microsoft.com/office/drawing/2014/main" id="{251D0494-1836-46AC-8F76-DFE8CD91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20  /  方案概念</a:t>
            </a:r>
          </a:p>
        </p:txBody>
      </p:sp>
      <p:sp>
        <p:nvSpPr>
          <p:cNvPr id="20" name="目标数在确定商场客流、预算、礼品库存及历">
            <a:extLst xmlns:a="http://schemas.openxmlformats.org/drawingml/2006/main">
              <a:ext uri="{FF2B5EF4-FFF2-40B4-BE49-F238E27FC236}">
                <a16:creationId xmlns:a16="http://schemas.microsoft.com/office/drawing/2014/main" id="{21C1820C-0495-4D65-B44C-1A848145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425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425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425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425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425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425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425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425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425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目标数在确定商场客流、预算、礼品库存及历史基线后设定。</a:t>
            </a:r>
          </a:p>
        </p:txBody>
      </p:sp>
      <p:sp xmlns:a="http://schemas.openxmlformats.org/drawingml/2006/main">
        <p:nvSpPr>
          <p:cNvPr id="22" name="TextBox 21"/>
          <p:cNvSpPr txBox="1"/>
          <p:nvPr/>
        </p:nvSpPr>
        <p:spPr>
          <a:xfrm>
            <a:off x="2371725" y="1943100"/>
            <a:ext cx="5200650" cy="704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>
                <a:solidFill>
                  <a:srgbClr val="555B60"/>
                </a:solidFill>
                <a:latin typeface="Noto Sans SC"/>
              </a:rPr>
              <a:t>曝光、点击、收藏、活动页访问</a:t>
            </a:r>
          </a:p>
        </p:txBody>
      </p:sp>
      <p:sp xmlns:a="http://schemas.openxmlformats.org/drawingml/2006/main">
        <p:nvSpPr>
          <p:cNvPr id="23" name="TextBox 22"/>
          <p:cNvSpPr txBox="1"/>
          <p:nvPr/>
        </p:nvSpPr>
        <p:spPr>
          <a:xfrm>
            <a:off x="2371725" y="3943350"/>
            <a:ext cx="5200650" cy="704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>
                <a:solidFill>
                  <a:srgbClr val="555B60"/>
                </a:solidFill>
                <a:latin typeface="Noto Sans SC"/>
              </a:rPr>
              <a:t>产品区到访、标签导览、有效咨询</a:t>
            </a:r>
          </a:p>
        </p:txBody>
      </p:sp>
      <p:sp xmlns:a="http://schemas.openxmlformats.org/drawingml/2006/main">
        <p:nvSpPr>
          <p:cNvPr id="24" name="TextBox 23"/>
          <p:cNvSpPr txBox="1"/>
          <p:nvPr/>
        </p:nvSpPr>
        <p:spPr>
          <a:xfrm>
            <a:off x="2371725" y="4943475"/>
            <a:ext cx="5200650" cy="704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>
                <a:solidFill>
                  <a:srgbClr val="555B60"/>
                </a:solidFill>
                <a:latin typeface="Noto Sans SC"/>
              </a:rPr>
              <a:t>自愿入会、老客回访、节后反馈</a:t>
            </a:r>
          </a:p>
        </p:txBody>
      </p:sp>
    </p:spTree>
    <p:extLst>
      <p:ext uri="{BB962C8B-B14F-4D97-AF65-F5344CB8AC3E}">
        <p14:creationId xmlns:p14="http://schemas.microsoft.com/office/powerpoint/2010/main" val="13836435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18  /  飞鹤中秋亲子游园会">
            <a:extLst xmlns:a="http://schemas.openxmlformats.org/drawingml/2006/main">
              <a:ext uri="{FF2B5EF4-FFF2-40B4-BE49-F238E27FC236}">
                <a16:creationId xmlns:a16="http://schemas.microsoft.com/office/drawing/2014/main" id="{0507C738-5FEF-47C5-AB16-EE67208A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1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21  /  飞鹤中秋亲子游园会</a:t>
            </a:r>
          </a:p>
        </p:txBody>
      </p:sp>
      <p:sp>
        <p:nvSpPr>
          <p:cNvPr id="2" name="落地前需要确认的五件事">
            <a:extLst xmlns:a="http://schemas.openxmlformats.org/drawingml/2006/main">
              <a:ext uri="{FF2B5EF4-FFF2-40B4-BE49-F238E27FC236}">
                <a16:creationId xmlns:a16="http://schemas.microsoft.com/office/drawing/2014/main" id="{116EEE0E-C821-42E6-A2F0-9F46D5BD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383D42"/>
                </a:solidFill>
                <a:latin typeface="Noto Sans SC"/>
                <a:ea typeface="Noto Sans SC"/>
                <a:cs typeface="Noto Sans SC"/>
              </a:rPr>
              <a:t>落地前需要确认的五件事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81D33D11-AF8E-4253-BD7C-2AA022BA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47850"/>
            <a:ext cx="571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4" name="场地">
            <a:extLst xmlns:a="http://schemas.openxmlformats.org/drawingml/2006/main">
              <a:ext uri="{FF2B5EF4-FFF2-40B4-BE49-F238E27FC236}">
                <a16:creationId xmlns:a16="http://schemas.microsoft.com/office/drawing/2014/main" id="{5EC19635-0E12-4E4E-9E52-B5F3DF09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8478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场地</a:t>
            </a:r>
          </a:p>
        </p:txBody>
      </p:sp>
      <p:sp>
        <p:nvSpPr>
          <p:cNvPr id="5" name="商场中庭平面、客流与可用面积；电源、消防">
            <a:extLst xmlns:a="http://schemas.openxmlformats.org/drawingml/2006/main">
              <a:ext uri="{FF2B5EF4-FFF2-40B4-BE49-F238E27FC236}">
                <a16:creationId xmlns:a16="http://schemas.microsoft.com/office/drawing/2014/main" id="{59F3B34C-31F2-400F-A3DE-9551A9C0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847850"/>
            <a:ext cx="8210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商场中庭平面、客流与可用面积；电源、消防和施工时段。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8ABE8-95F1-40DD-B939-2215649C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C2EE3F60-89ED-4A26-BC00-09102422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05100"/>
            <a:ext cx="571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8" name="品牌">
            <a:extLst xmlns:a="http://schemas.openxmlformats.org/drawingml/2006/main">
              <a:ext uri="{FF2B5EF4-FFF2-40B4-BE49-F238E27FC236}">
                <a16:creationId xmlns:a16="http://schemas.microsoft.com/office/drawing/2014/main" id="{AA3FDCEB-74DD-4B0B-9EB9-155EDE3E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0510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品牌</a:t>
            </a:r>
          </a:p>
        </p:txBody>
      </p:sp>
      <p:sp>
        <p:nvSpPr>
          <p:cNvPr id="9" name="正式Logo、三款产品标准图、SKU、标">
            <a:extLst xmlns:a="http://schemas.openxmlformats.org/drawingml/2006/main">
              <a:ext uri="{FF2B5EF4-FFF2-40B4-BE49-F238E27FC236}">
                <a16:creationId xmlns:a16="http://schemas.microsoft.com/office/drawing/2014/main" id="{EC1473AF-980A-4BCF-B4B1-F1EEA5A8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705100"/>
            <a:ext cx="8210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正式Logo、三款产品标准图、SKU、标签及可对外表述。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94066-8A7F-4410-9F4A-25C36C7F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9CACCD84-5503-452C-A95C-AB1B3E26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62350"/>
            <a:ext cx="571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2" name="机制">
            <a:extLst xmlns:a="http://schemas.openxmlformats.org/drawingml/2006/main">
              <a:ext uri="{FF2B5EF4-FFF2-40B4-BE49-F238E27FC236}">
                <a16:creationId xmlns:a16="http://schemas.microsoft.com/office/drawing/2014/main" id="{DA7A37E1-4FBD-4193-9034-027CB4F5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623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机制</a:t>
            </a:r>
          </a:p>
        </p:txBody>
      </p:sp>
      <p:sp>
        <p:nvSpPr>
          <p:cNvPr id="13" name="活动日期、时段容量、报名入口、礼品库存与">
            <a:extLst xmlns:a="http://schemas.openxmlformats.org/drawingml/2006/main">
              <a:ext uri="{FF2B5EF4-FFF2-40B4-BE49-F238E27FC236}">
                <a16:creationId xmlns:a16="http://schemas.microsoft.com/office/drawing/2014/main" id="{5C4BDFE4-37D8-4B86-8B1E-0AA327AB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562350"/>
            <a:ext cx="8210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活动日期、时段容量、报名入口、礼品库存与会员权益。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D884C-4C3E-4C9C-B756-15A07332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4F7FC855-1BF0-4C9C-B698-BC828FB0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19600"/>
            <a:ext cx="571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6" name="生产">
            <a:extLst xmlns:a="http://schemas.openxmlformats.org/drawingml/2006/main">
              <a:ext uri="{FF2B5EF4-FFF2-40B4-BE49-F238E27FC236}">
                <a16:creationId xmlns:a16="http://schemas.microsoft.com/office/drawing/2014/main" id="{2F475110-CA84-4795-8203-C9505C1E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41960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生产</a:t>
            </a:r>
          </a:p>
        </p:txBody>
      </p:sp>
      <p:sp>
        <p:nvSpPr>
          <p:cNvPr id="17" name="装置结构深化、儿童礼品打样、物料色样和印">
            <a:extLst xmlns:a="http://schemas.openxmlformats.org/drawingml/2006/main">
              <a:ext uri="{FF2B5EF4-FFF2-40B4-BE49-F238E27FC236}">
                <a16:creationId xmlns:a16="http://schemas.microsoft.com/office/drawing/2014/main" id="{01CDFCB2-4669-4D11-A57A-D3BBBDFD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419600"/>
            <a:ext cx="8210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装置结构深化、儿童礼品打样、物料色样和印前文件。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7BC0D8-EE59-4F69-A24A-7F076156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05">
            <a:extLst xmlns:a="http://schemas.openxmlformats.org/drawingml/2006/main">
              <a:ext uri="{FF2B5EF4-FFF2-40B4-BE49-F238E27FC236}">
                <a16:creationId xmlns:a16="http://schemas.microsoft.com/office/drawing/2014/main" id="{132A034E-9737-453F-96BF-2570C955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276850"/>
            <a:ext cx="571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AB793A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0" name="数据">
            <a:extLst xmlns:a="http://schemas.openxmlformats.org/drawingml/2006/main">
              <a:ext uri="{FF2B5EF4-FFF2-40B4-BE49-F238E27FC236}">
                <a16:creationId xmlns:a16="http://schemas.microsoft.com/office/drawing/2014/main" id="{27C2252D-5238-4751-A40F-33F88885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2768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23F82"/>
                </a:solidFill>
                <a:latin typeface="Noto Sans SC"/>
                <a:ea typeface="Noto Sans SC"/>
                <a:cs typeface="Noto Sans SC"/>
              </a:rPr>
              <a:t>数据</a:t>
            </a:r>
          </a:p>
        </p:txBody>
      </p:sp>
      <p:sp>
        <p:nvSpPr>
          <p:cNvPr id="21" name="平台承接方式、现场授权文案、渠道归因与复">
            <a:extLst xmlns:a="http://schemas.openxmlformats.org/drawingml/2006/main">
              <a:ext uri="{FF2B5EF4-FFF2-40B4-BE49-F238E27FC236}">
                <a16:creationId xmlns:a16="http://schemas.microsoft.com/office/drawing/2014/main" id="{A3168172-8ED9-425F-95AB-E575BDFF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276850"/>
            <a:ext cx="8210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92B2E"/>
                </a:solidFill>
                <a:latin typeface="Noto Sans SC"/>
                <a:ea typeface="Noto Sans SC"/>
                <a:cs typeface="Noto Sans SC"/>
              </a:rPr>
              <a:t>平台承接方式、现场授权文案、渠道归因与复盘口径。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CCB091-9068-4530-9CBE-B9947527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BB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18  /  方案概念">
            <a:extLst xmlns:a="http://schemas.openxmlformats.org/drawingml/2006/main">
              <a:ext uri="{FF2B5EF4-FFF2-40B4-BE49-F238E27FC236}">
                <a16:creationId xmlns:a16="http://schemas.microsoft.com/office/drawing/2014/main" id="{CA7CA3C8-0896-492E-822B-EFE17D51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975" b="0">
                <a:solidFill>
                  <a:srgbClr val="686B70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r>
              <a:t>21  /  方案概念</a:t>
            </a:r>
          </a:p>
        </p:txBody>
      </p:sp>
    </p:spTree>
    <p:extLst>
      <p:ext uri="{BB962C8B-B14F-4D97-AF65-F5344CB8AC3E}">
        <p14:creationId xmlns:p14="http://schemas.microsoft.com/office/powerpoint/2010/main" val="16188209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2026-10-22T07:40:04.6590000Z</dcterms:created>
  <dcterms:modified xsi:type="dcterms:W3CDTF">2026-10-22T07:40:04.6590000Z</dcterms:modified>
</coreProperties>
</file>